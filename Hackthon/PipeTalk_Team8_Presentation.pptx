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5918270bcd04124" /><Relationship Type="http://schemas.openxmlformats.org/officeDocument/2006/relationships/extended-properties" Target="/docProps/app.xml" Id="R6835beee1f27477f" /><Relationship Type="http://schemas.openxmlformats.org/officeDocument/2006/relationships/officeDocument" Target="/ppt/presentation.xml" Id="R164c196056c844ed" /></Relationships>
</file>

<file path=ppt/presentation.xml><?xml version="1.0" encoding="utf-8"?>
<p:presentation xmlns:p="http://schemas.openxmlformats.org/presentationml/2006/main">
  <p:sldMasterIdLst>
    <p:sldMasterId xmlns:r="http://schemas.openxmlformats.org/officeDocument/2006/relationships" id="2147483648" r:id="R7dc5267b961c496b"/>
  </p:sldMasterIdLst>
  <p:notesMasterIdLst>
    <p:notesMasterId xmlns:r="http://schemas.openxmlformats.org/officeDocument/2006/relationships" r:id="Rfdacbc2bdf534d39"/>
  </p:notesMasterIdLst>
  <p:sldIdLst>
    <p:sldId xmlns:r="http://schemas.openxmlformats.org/officeDocument/2006/relationships" id="256" r:id="Rce68fd555bd24129"/>
    <p:sldId xmlns:r="http://schemas.openxmlformats.org/officeDocument/2006/relationships" id="257" r:id="Rd8373e162f8a4243"/>
    <p:sldId xmlns:r="http://schemas.openxmlformats.org/officeDocument/2006/relationships" id="258" r:id="R71c6253a4eb24202"/>
    <p:sldId xmlns:r="http://schemas.openxmlformats.org/officeDocument/2006/relationships" id="259" r:id="R0e68323062dc49e0"/>
    <p:sldId xmlns:r="http://schemas.openxmlformats.org/officeDocument/2006/relationships" id="260" r:id="Rf26b9f5969e745e2"/>
    <p:sldId xmlns:r="http://schemas.openxmlformats.org/officeDocument/2006/relationships" id="261" r:id="Rd2d2c21feee04154"/>
    <p:sldId xmlns:r="http://schemas.openxmlformats.org/officeDocument/2006/relationships" id="262" r:id="Rb9c51562e9b44e6c"/>
    <p:sldId xmlns:r="http://schemas.openxmlformats.org/officeDocument/2006/relationships" id="263" r:id="R7e2369ef1e694544"/>
    <p:sldId xmlns:r="http://schemas.openxmlformats.org/officeDocument/2006/relationships" id="264" r:id="R5540672347014aae"/>
    <p:sldId xmlns:r="http://schemas.openxmlformats.org/officeDocument/2006/relationships" id="265" r:id="Rf8b83585f5e54824"/>
    <p:sldId xmlns:r="http://schemas.openxmlformats.org/officeDocument/2006/relationships" id="266" r:id="Ra9422dafbff44052"/>
    <p:sldId xmlns:r="http://schemas.openxmlformats.org/officeDocument/2006/relationships" id="267" r:id="Rbfd1605cd955407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15ee9fb27854ff4" /><Relationship Type="http://schemas.openxmlformats.org/officeDocument/2006/relationships/slideMaster" Target="/ppt/slideMasters/slideMaster1.xml" Id="R7dc5267b961c496b" /><Relationship Type="http://schemas.openxmlformats.org/officeDocument/2006/relationships/notesMaster" Target="/ppt/notesMasters/notesMaster1.xml" Id="Rfdacbc2bdf534d39" /><Relationship Type="http://schemas.openxmlformats.org/officeDocument/2006/relationships/presProps" Target="/ppt/presProps.xml" Id="Rfa443e8e62b34560" /><Relationship Type="http://schemas.openxmlformats.org/officeDocument/2006/relationships/tableStyles" Target="/ppt/tableStyles.xml" Id="R781a1b76ac804065" /><Relationship Type="http://schemas.openxmlformats.org/officeDocument/2006/relationships/slide" Target="/ppt/slides/slide1.xml" Id="Rce68fd555bd24129" /><Relationship Type="http://schemas.openxmlformats.org/officeDocument/2006/relationships/slide" Target="/ppt/slides/slide2.xml" Id="Rd8373e162f8a4243" /><Relationship Type="http://schemas.openxmlformats.org/officeDocument/2006/relationships/slide" Target="/ppt/slides/slide3.xml" Id="R71c6253a4eb24202" /><Relationship Type="http://schemas.openxmlformats.org/officeDocument/2006/relationships/slide" Target="/ppt/slides/slide4.xml" Id="R0e68323062dc49e0" /><Relationship Type="http://schemas.openxmlformats.org/officeDocument/2006/relationships/slide" Target="/ppt/slides/slide5.xml" Id="Rf26b9f5969e745e2" /><Relationship Type="http://schemas.openxmlformats.org/officeDocument/2006/relationships/slide" Target="/ppt/slides/slide6.xml" Id="Rd2d2c21feee04154" /><Relationship Type="http://schemas.openxmlformats.org/officeDocument/2006/relationships/slide" Target="/ppt/slides/slide7.xml" Id="Rb9c51562e9b44e6c" /><Relationship Type="http://schemas.openxmlformats.org/officeDocument/2006/relationships/slide" Target="/ppt/slides/slide8.xml" Id="R7e2369ef1e694544" /><Relationship Type="http://schemas.openxmlformats.org/officeDocument/2006/relationships/slide" Target="/ppt/slides/slide9.xml" Id="R5540672347014aae" /><Relationship Type="http://schemas.openxmlformats.org/officeDocument/2006/relationships/slide" Target="/ppt/slides/slide10.xml" Id="Rf8b83585f5e54824" /><Relationship Type="http://schemas.openxmlformats.org/officeDocument/2006/relationships/slide" Target="/ppt/slides/slide11.xml" Id="Ra9422dafbff44052" /><Relationship Type="http://schemas.openxmlformats.org/officeDocument/2006/relationships/slide" Target="/ppt/slides/slide12.xml" Id="Rbfd1605cd955407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88db431bf5f4db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cbc2f45bc05471f" /><Relationship Type="http://schemas.openxmlformats.org/officeDocument/2006/relationships/notesMaster" Target="/ppt/notesMasters/notesMaster1.xml" Id="R69ea91790a974f14" /></Relationships>
</file>

<file path=ppt/notesSlides/_rels/notesSlide2.xml.rels>&#65279;<?xml version="1.0" encoding="utf-8"?><Relationships xmlns="http://schemas.openxmlformats.org/package/2006/relationships"><Relationship Type="http://schemas.openxmlformats.org/officeDocument/2006/relationships/slide" Target="/ppt/slides/slide2.xml" Id="Rba6c625e8b374942" /><Relationship Type="http://schemas.openxmlformats.org/officeDocument/2006/relationships/notesMaster" Target="/ppt/notesMasters/notesMaster1.xml" Id="Rfa1655e6c4c94228" /></Relationships>
</file>

<file path=ppt/notesSlides/_rels/notesSlide3.xml.rels>&#65279;<?xml version="1.0" encoding="utf-8"?><Relationships xmlns="http://schemas.openxmlformats.org/package/2006/relationships"><Relationship Type="http://schemas.openxmlformats.org/officeDocument/2006/relationships/slide" Target="/ppt/slides/slide3.xml" Id="R791ab974446d4915" /><Relationship Type="http://schemas.openxmlformats.org/officeDocument/2006/relationships/notesMaster" Target="/ppt/notesMasters/notesMaster1.xml" Id="Rab53605270604be6" /></Relationships>
</file>

<file path=ppt/notesSlides/_rels/notesSlide4.xml.rels>&#65279;<?xml version="1.0" encoding="utf-8"?><Relationships xmlns="http://schemas.openxmlformats.org/package/2006/relationships"><Relationship Type="http://schemas.openxmlformats.org/officeDocument/2006/relationships/slide" Target="/ppt/slides/slide4.xml" Id="Rd4579676ae6e423c" /><Relationship Type="http://schemas.openxmlformats.org/officeDocument/2006/relationships/notesMaster" Target="/ppt/notesMasters/notesMaster1.xml" Id="R4781f8713dbc4af1" /></Relationships>
</file>

<file path=ppt/notesSlides/_rels/notesSlide5.xml.rels>&#65279;<?xml version="1.0" encoding="utf-8"?><Relationships xmlns="http://schemas.openxmlformats.org/package/2006/relationships"><Relationship Type="http://schemas.openxmlformats.org/officeDocument/2006/relationships/slide" Target="/ppt/slides/slide5.xml" Id="R7e346b7a50a54731" /><Relationship Type="http://schemas.openxmlformats.org/officeDocument/2006/relationships/notesMaster" Target="/ppt/notesMasters/notesMaster1.xml" Id="Rd1bdcb977be74588" /></Relationships>
</file>

<file path=ppt/notesSlides/_rels/notesSlide6.xml.rels>&#65279;<?xml version="1.0" encoding="utf-8"?><Relationships xmlns="http://schemas.openxmlformats.org/package/2006/relationships"><Relationship Type="http://schemas.openxmlformats.org/officeDocument/2006/relationships/slide" Target="/ppt/slides/slide6.xml" Id="R4d8cf4a9182142e9" /><Relationship Type="http://schemas.openxmlformats.org/officeDocument/2006/relationships/notesMaster" Target="/ppt/notesMasters/notesMaster1.xml" Id="Rc1f3dbd6e25b49a2" /></Relationships>
</file>

<file path=ppt/notesSlides/_rels/notesSlide7.xml.rels>&#65279;<?xml version="1.0" encoding="utf-8"?><Relationships xmlns="http://schemas.openxmlformats.org/package/2006/relationships"><Relationship Type="http://schemas.openxmlformats.org/officeDocument/2006/relationships/slide" Target="/ppt/slides/slide7.xml" Id="R7aa2ab9669c14132" /><Relationship Type="http://schemas.openxmlformats.org/officeDocument/2006/relationships/notesMaster" Target="/ppt/notesMasters/notesMaster1.xml" Id="Rc909357cdc964892" /></Relationships>
</file>

<file path=ppt/notesSlides/_rels/notesSlide8.xml.rels>&#65279;<?xml version="1.0" encoding="utf-8"?><Relationships xmlns="http://schemas.openxmlformats.org/package/2006/relationships"><Relationship Type="http://schemas.openxmlformats.org/officeDocument/2006/relationships/slide" Target="/ppt/slides/slide8.xml" Id="R99c7f4947ed34670" /><Relationship Type="http://schemas.openxmlformats.org/officeDocument/2006/relationships/notesMaster" Target="/ppt/notesMasters/notesMaster1.xml" Id="R7cac32ec71b144fe" /></Relationships>
</file>

<file path=ppt/notesSlides/_rels/notesSlide9.xml.rels>&#65279;<?xml version="1.0" encoding="utf-8"?><Relationships xmlns="http://schemas.openxmlformats.org/package/2006/relationships"><Relationship Type="http://schemas.openxmlformats.org/officeDocument/2006/relationships/slide" Target="/ppt/slides/slide9.xml" Id="Rdcf788a59acc4f98" /><Relationship Type="http://schemas.openxmlformats.org/officeDocument/2006/relationships/notesMaster" Target="/ppt/notesMasters/notesMaster1.xml" Id="R6f3b5bed85fe475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759a9b312784bc0" /><Relationship Type="http://schemas.openxmlformats.org/officeDocument/2006/relationships/notesMaster" Target="/ppt/notesMasters/notesMaster1.xml" Id="R27ee84fa0022493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e3b7d1c409841fe" /><Relationship Type="http://schemas.openxmlformats.org/officeDocument/2006/relationships/notesMaster" Target="/ppt/notesMasters/notesMaster1.xml" Id="R98d5f1a424444f4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0899b7d8ed34150" /><Relationship Type="http://schemas.openxmlformats.org/officeDocument/2006/relationships/notesMaster" Target="/ppt/notesMasters/notesMaster1.xml" Id="Rb37acf1746e045b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the project as the Team 8 Inter-Process Chat Application Using IPC. The backend consists of two independent Linux C processes using named pipes. Team members: Abhay Tripathi, K. Pranav and Jashwanth. Guided by Ms. Soumya.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assigned problem asks for two independent processes exchanging messages in both directions using IPC. Explain that isolated Linux processes need an operating-system communication mechanism. PipeTalk adds a web interface so the communication and process evidence can be demonstrated together.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browser uses HTTP to reach the Python bridge. The bridge sends commands through anonymous stdin pipes. The C peers exchange the actual payload through named FIFOs. Receiving confirmations return through stdout. Explain the separation between the control streams and peer-to-peer message transport. Source: backend/server.py and backend/peer.c.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bridge creates each FIFO using os.mkfifo with mode 0600. Each peer opens the FIFO descriptors, waits using poll, and exchanges frames using write and read. The descriptors are closed during shutdown. The Linux-specific O_RDWR and O_NONBLOCK combination avoids startup ordering deadlocks. References: https://www.man7.org/linux/man-pages/man7/fifo.7.html and https://www.man7.org/linux/man-pages/man7/pipe.7.html . Source: backend/peer.c.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Describe an A-to-B message. The bridge validates input and creates a unique message ID. It sends the JSON frame to A stdin. A writes that frame into a_to_b.fifo. B reads it and reports the payload through stdout. The bridge checks the destination and message content before marking delivery. The direction is reversed for a reply. Source: Engine.send and Engine._reader in backend/server.py.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web bridge uses ThreadingHTTPServer and subprocess.Popen. It exposes only the listed local application routes. State refreshes every 500 milliseconds. Commands require a session token and valid local Host and Origin values. There is no framework, database or external runtime dependency. References: https://docs.python.org/3.11/library/subprocess.html and https://docs.python.org/3.12/library/http.server.html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an actual user-supplied screenshot of the implemented application in its initial connected state. Point to the two endpoint input areas and the ready events in Transport activity. The initial empty conversation is not evidence of message delivery. During the live demonstration send a message in both directions and show destination confirmation. Source image: image(2).png supplied during project execution.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process listing is an actual user-supplied Ubuntu screenshot. It shows A as PID 1270 and B as PID 1272, with shared parent PID 1261 for that session. Their arguments show opposite incoming and outgoing FIFO paths. The PIDs are examples from that run, not fixed configuration. The S state indicates interruptible sleep, consistent with waiting for input. Source image: image(4).png.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ten packaged unittest checks passed against the current implementation in the Linux build environment. They launch real C processes. The concurrency test uses 20 alternating submissions through six client threads. GCC strict compilation and Python, shell and JavaScript syntax checks also passed. The Windows-specific tests inspect the WSL command argument contract on Linux. They do not execute Windows or PowerShell. Sources: tests/test_integration.py, tests/test_launcher.py and tests/test_windows_launcher.py.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Keep the launcher running in terminal 1. Use terminal 2 for ps and the generated ls command. Do not press Ctrl+C until the end. Send A-to-B and B-to-A messages in the browser and show receiving events. For recovery, terminate only the displayed current B PID with kill -TERM, then use Restart processes. Never use cat to read an active FIFO because it can consume a peer message.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implemented prototype supports the assigned two-endpoint FIFO chat with receiving confirmation, live process metadata and manual restart. State is in memory and export is available. Retention limits are 500 messages and 200 events. There is no persistent database or remote user authentication. Observed delivery time includes bridge scheduling and read-confirmation overhead and is not a kernel-only benchmark. Source: backend/server.py and 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Conclude that the project meets the assigned two-way communication objective by using actual independent Linux C processes and kernel-managed FIFOs. The website exposes the communication while the terminal independently verifies resources. Possible future work includes persistent storage, multiple isolated sessions and automated browser tests. These are proposals, not implemented features. Thank the evaluators and invite questions about the Linux IPC mechanism.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d26111ecd474987"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1a7203c6172e46ae"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e59b1de7bd940bd"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345956682831484b"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84523675fd81454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21e5d42cfff6483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533097C-033E-440F-92FC-BE2E46F947F6}"/>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CB1312B4-7CF8-407B-8FB2-BB1F051B891E}"/>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0459C000-4AD8-440F-8D5A-8D2D07D97C00}"/>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DA4C4F7-FFE5-4080-9780-BBFD9880099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02C5E881-4AD5-427C-AD24-12705DBFDEA3}"/>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844AB79A-5BCD-49D9-801F-65CCD0F429E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827170E-6E47-4195-8F63-90AC01FE3C6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8A3F25A0-D7B3-49E2-AF70-C32E2A1CC915}"/>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7EE3DD4-E5CA-4258-B5DF-1D3D7C61BA3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BC004F8-09D5-4EC6-A7AD-A59DB362BEC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e75cca8b67f4cca" /><Relationship Type="http://schemas.openxmlformats.org/officeDocument/2006/relationships/slideLayout" Target="/ppt/slideLayouts/slideLayout1.xml" Id="R0969bd1225d34318" /><Relationship Type="http://schemas.openxmlformats.org/officeDocument/2006/relationships/slideLayout" Target="/ppt/slideLayouts/slideLayout2.xml" Id="Rf4f8493b064741b4" /><Relationship Type="http://schemas.openxmlformats.org/officeDocument/2006/relationships/slideLayout" Target="/ppt/slideLayouts/slideLayout3.xml" Id="R22a2d86e6b234299" /><Relationship Type="http://schemas.openxmlformats.org/officeDocument/2006/relationships/slideLayout" Target="/ppt/slideLayouts/slideLayout4.xml" Id="R4796c858024f425a" /><Relationship Type="http://schemas.openxmlformats.org/officeDocument/2006/relationships/slideLayout" Target="/ppt/slideLayouts/slideLayout5.xml" Id="R64c3e33857c94dfb" /><Relationship Type="http://schemas.openxmlformats.org/officeDocument/2006/relationships/slideLayout" Target="/ppt/slideLayouts/slideLayout6.xml" Id="R762de288b2e3449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969bd1225d34318"/>
    <p:sldLayoutId xmlns:r="http://schemas.openxmlformats.org/officeDocument/2006/relationships" id="2147483650" r:id="Rf4f8493b064741b4"/>
    <p:sldLayoutId xmlns:r="http://schemas.openxmlformats.org/officeDocument/2006/relationships" id="2147483651" r:id="R22a2d86e6b234299"/>
    <p:sldLayoutId xmlns:r="http://schemas.openxmlformats.org/officeDocument/2006/relationships" id="2147483652" r:id="R4796c858024f425a"/>
    <p:sldLayoutId xmlns:r="http://schemas.openxmlformats.org/officeDocument/2006/relationships" id="2147483653" r:id="R64c3e33857c94dfb"/>
    <p:sldLayoutId xmlns:r="http://schemas.openxmlformats.org/officeDocument/2006/relationships" id="2147483654" r:id="R762de288b2e3449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572a0cbb1a6c4a87" /><Relationship Type="http://schemas.openxmlformats.org/officeDocument/2006/relationships/notesSlide" Target="/ppt/notesSlides/notesSlide1.xml" Id="R93317fd468eb47c8"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3a06d3960beb442b" /><Relationship Type="http://schemas.openxmlformats.org/officeDocument/2006/relationships/notesSlide" Target="/ppt/notesSlides/notesSlide2.xml" Id="Rfdb7854298a44995"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0c3e55acc1564b7e" /><Relationship Type="http://schemas.openxmlformats.org/officeDocument/2006/relationships/notesSlide" Target="/ppt/notesSlides/notesSlide3.xml" Id="Re0d829265e774544"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0af1c0e38591468e" /><Relationship Type="http://schemas.openxmlformats.org/officeDocument/2006/relationships/notesSlide" Target="/ppt/notesSlides/notesSlide4.xml" Id="R0cf16130b59d4895"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a226895babf94bfb" /><Relationship Type="http://schemas.openxmlformats.org/officeDocument/2006/relationships/notesSlide" Target="/ppt/notesSlides/notesSlide5.xml" Id="R1050f0b390d44aeb"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ca5b1bbcdcfa4fdf" /><Relationship Type="http://schemas.openxmlformats.org/officeDocument/2006/relationships/notesSlide" Target="/ppt/notesSlides/notesSlide6.xml" Id="R97a9fa81acee4d57"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d064099478784d00" /><Relationship Type="http://schemas.openxmlformats.org/officeDocument/2006/relationships/image" Target="/ppt/media/image.png" Id="R35dda9649ec442c4" /><Relationship Type="http://schemas.openxmlformats.org/officeDocument/2006/relationships/notesSlide" Target="/ppt/notesSlides/notesSlide7.xml" Id="R1df35d9d75854256"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a4902dfc58d14078" /><Relationship Type="http://schemas.openxmlformats.org/officeDocument/2006/relationships/image" Target="/ppt/media/image2.png" Id="Rd9bb0d8f58ba43d0" /><Relationship Type="http://schemas.openxmlformats.org/officeDocument/2006/relationships/notesSlide" Target="/ppt/notesSlides/notesSlide8.xml" Id="R15995321cb6b4b2e"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d67c1297ca0d4aab" /><Relationship Type="http://schemas.openxmlformats.org/officeDocument/2006/relationships/notesSlide" Target="/ppt/notesSlides/notesSlide9.xml" Id="R7d9f7d35fc03471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046287584d52445b" /><Relationship Type="http://schemas.openxmlformats.org/officeDocument/2006/relationships/notesSlide" Target="/ppt/notesSlides/notesSlide10.xml" Id="Ra10c1d8c616a41f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0a8e8aa6ad174526" /><Relationship Type="http://schemas.openxmlformats.org/officeDocument/2006/relationships/notesSlide" Target="/ppt/notesSlides/notesSlide11.xml" Id="R216bda0e0809420c"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db5476a4766d4fdd" /><Relationship Type="http://schemas.openxmlformats.org/officeDocument/2006/relationships/notesSlide" Target="/ppt/notesSlides/notesSlide12.xml" Id="R56c1c0ec0e704c76" /></Relationships>
</file>

<file path=ppt/slides/slide1.xml><?xml version="1.0" encoding="utf-8"?>
<p:sld xmlns:p="http://schemas.openxmlformats.org/presentationml/2006/main">
  <p:cSld>
    <p:bg>
      <p:bgPr>
        <a:solidFill xmlns:a="http://schemas.openxmlformats.org/drawingml/2006/main">
          <a:srgbClr val="FCFBF8"/>
        </a:solidFill>
      </p:bgPr>
    </p:bg>
    <p:spTree>
      <p:nvGrpSpPr>
        <p:cNvPr id="1" name=""/>
        <p:cNvGrpSpPr/>
        <p:nvPr/>
      </p:nvGrpSpPr>
      <p:grpSpPr>
        <a:xfrm xmlns:a="http://schemas.openxmlformats.org/drawingml/2006/main"/>
      </p:grpSpPr>
      <p:sp>
        <p:nvSpPr>
          <p:cNvPr id="10" name="text-1">
            <a:extLst xmlns:a="http://schemas.openxmlformats.org/drawingml/2006/main">
              <a:ext uri="{FF2B5EF4-FFF2-40B4-BE49-F238E27FC236}">
                <a16:creationId xmlns:a16="http://schemas.microsoft.com/office/drawing/2014/main" id="{010CFD7F-E959-44B6-AC8C-3C2D7E4CEBF7}"/>
              </a:ext>
            </a:extLst>
          </p:cNvPr>
          <p:cNvSpPr>
            <a:spLocks xmlns:a="http://schemas.openxmlformats.org/drawingml/2006/main" noGrp="1"/>
          </p:cNvSpPr>
          <p:nvPr/>
        </p:nvSpPr>
        <p:spPr>
          <a:xfrm xmlns:a="http://schemas.openxmlformats.org/drawingml/2006/main">
            <a:off x="628650" y="428625"/>
            <a:ext cx="10953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222B38"/>
                </a:solidFill>
                <a:latin typeface="DejaVu Sans"/>
                <a:ea typeface="DejaVu Sans"/>
                <a:cs typeface="DejaVu Sans"/>
              </a:defRPr>
            </a:defPPr>
          </a:lstStyle>
          <a:p xmlns:a="http://schemas.openxmlformats.org/drawingml/2006/main">
            <a:pPr algn="l">
              <a:defRPr sz="3300" b="1">
                <a:solidFill>
                  <a:srgbClr val="222B38"/>
                </a:solidFill>
                <a:latin typeface="DejaVu Sans"/>
                <a:ea typeface="DejaVu Sans"/>
                <a:cs typeface="DejaVu Sans"/>
              </a:defRPr>
            </a:pPr>
            <a:r>
              <a:rPr sz="3300" b="1">
                <a:solidFill>
                  <a:srgbClr val="222B38"/>
                </a:solidFill>
                <a:latin typeface="DejaVu Sans"/>
                <a:ea typeface="DejaVu Sans"/>
                <a:cs typeface="DejaVu Sans"/>
              </a:rPr>
              <a:t>PipeTalk</a:t>
            </a:r>
          </a:p>
        </p:txBody>
      </p:sp>
      <p:sp>
        <p:nvSpPr>
          <p:cNvPr id="2" name="text-2">
            <a:extLst xmlns:a="http://schemas.openxmlformats.org/drawingml/2006/main">
              <a:ext uri="{FF2B5EF4-FFF2-40B4-BE49-F238E27FC236}">
                <a16:creationId xmlns:a16="http://schemas.microsoft.com/office/drawing/2014/main" id="{AE8F19D9-7F02-482B-80F3-8DED969788B1}"/>
              </a:ext>
            </a:extLst>
          </p:cNvPr>
          <p:cNvSpPr>
            <a:spLocks xmlns:a="http://schemas.openxmlformats.org/drawingml/2006/main" noGrp="1"/>
          </p:cNvSpPr>
          <p:nvPr/>
        </p:nvSpPr>
        <p:spPr>
          <a:xfrm xmlns:a="http://schemas.openxmlformats.org/drawingml/2006/main">
            <a:off x="628650" y="6477000"/>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0">
                <a:solidFill>
                  <a:srgbClr val="697383"/>
                </a:solidFill>
                <a:latin typeface="DejaVu Sans"/>
                <a:ea typeface="DejaVu Sans"/>
                <a:cs typeface="DejaVu Sans"/>
              </a:defRPr>
            </a:defPPr>
          </a:lstStyle>
          <a:p xmlns:a="http://schemas.openxmlformats.org/drawingml/2006/main">
            <a:pPr algn="l">
              <a:defRPr sz="1050" b="0">
                <a:solidFill>
                  <a:srgbClr val="697383"/>
                </a:solidFill>
                <a:latin typeface="DejaVu Sans"/>
                <a:ea typeface="DejaVu Sans"/>
                <a:cs typeface="DejaVu Sans"/>
              </a:defRPr>
            </a:pPr>
            <a:r>
              <a:rPr sz="1050" b="0">
                <a:solidFill>
                  <a:srgbClr val="697383"/>
                </a:solidFill>
                <a:latin typeface="DejaVu Sans"/>
                <a:ea typeface="DejaVu Sans"/>
                <a:cs typeface="DejaVu Sans"/>
              </a:rPr>
              <a:t>PipeTalk  /  OSSP Hackathon Team 8</a:t>
            </a:r>
          </a:p>
        </p:txBody>
      </p:sp>
      <p:sp>
        <p:nvSpPr>
          <p:cNvPr id="3" name="text-3">
            <a:extLst xmlns:a="http://schemas.openxmlformats.org/drawingml/2006/main">
              <a:ext uri="{FF2B5EF4-FFF2-40B4-BE49-F238E27FC236}">
                <a16:creationId xmlns:a16="http://schemas.microsoft.com/office/drawing/2014/main" id="{0743489E-FD8A-40AB-8A7B-D8445BC041F2}"/>
              </a:ext>
            </a:extLst>
          </p:cNvPr>
          <p:cNvSpPr>
            <a:spLocks xmlns:a="http://schemas.openxmlformats.org/drawingml/2006/main" noGrp="1"/>
          </p:cNvSpPr>
          <p:nvPr/>
        </p:nvSpPr>
        <p:spPr>
          <a:xfrm xmlns:a="http://schemas.openxmlformats.org/drawingml/2006/main">
            <a:off x="11049000" y="647700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0">
                <a:solidFill>
                  <a:srgbClr val="697383"/>
                </a:solidFill>
                <a:latin typeface="DejaVu Sans"/>
                <a:ea typeface="DejaVu Sans"/>
                <a:cs typeface="DejaVu Sans"/>
              </a:defRPr>
            </a:defPPr>
          </a:lstStyle>
          <a:p xmlns:a="http://schemas.openxmlformats.org/drawingml/2006/main">
            <a:pPr algn="l">
              <a:defRPr sz="1050" b="0">
                <a:solidFill>
                  <a:srgbClr val="697383"/>
                </a:solidFill>
                <a:latin typeface="DejaVu Sans"/>
                <a:ea typeface="DejaVu Sans"/>
                <a:cs typeface="DejaVu Sans"/>
              </a:defRPr>
            </a:pPr>
            <a:r>
              <a:rPr sz="1050" b="0">
                <a:solidFill>
                  <a:srgbClr val="697383"/>
                </a:solidFill>
                <a:latin typeface="DejaVu Sans"/>
                <a:ea typeface="DejaVu Sans"/>
                <a:cs typeface="DejaVu Sans"/>
              </a:rPr>
              <a:t>01</a:t>
            </a:r>
          </a:p>
        </p:txBody>
      </p:sp>
      <p:sp>
        <p:nvSpPr>
          <p:cNvPr id="4" name="text-4">
            <a:extLst xmlns:a="http://schemas.openxmlformats.org/drawingml/2006/main">
              <a:ext uri="{FF2B5EF4-FFF2-40B4-BE49-F238E27FC236}">
                <a16:creationId xmlns:a16="http://schemas.microsoft.com/office/drawing/2014/main" id="{4231DFE2-BBBA-43A7-B1C3-904551D85F28}"/>
              </a:ext>
            </a:extLst>
          </p:cNvPr>
          <p:cNvSpPr>
            <a:spLocks xmlns:a="http://schemas.openxmlformats.org/drawingml/2006/main" noGrp="1"/>
          </p:cNvSpPr>
          <p:nvPr/>
        </p:nvSpPr>
        <p:spPr>
          <a:xfrm xmlns:a="http://schemas.openxmlformats.org/drawingml/2006/main">
            <a:off x="666750" y="1428750"/>
            <a:ext cx="1047750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150" b="1">
                <a:solidFill>
                  <a:srgbClr val="6756A7"/>
                </a:solidFill>
                <a:latin typeface="DejaVu Sans"/>
                <a:ea typeface="DejaVu Sans"/>
                <a:cs typeface="DejaVu Sans"/>
              </a:defRPr>
            </a:defPPr>
          </a:lstStyle>
          <a:p xmlns:a="http://schemas.openxmlformats.org/drawingml/2006/main">
            <a:pPr algn="l">
              <a:defRPr sz="3150" b="1">
                <a:solidFill>
                  <a:srgbClr val="6756A7"/>
                </a:solidFill>
                <a:latin typeface="DejaVu Sans"/>
                <a:ea typeface="DejaVu Sans"/>
                <a:cs typeface="DejaVu Sans"/>
              </a:defRPr>
            </a:pPr>
            <a:r>
              <a:rPr sz="3150" b="1">
                <a:solidFill>
                  <a:srgbClr val="6756A7"/>
                </a:solidFill>
                <a:latin typeface="DejaVu Sans"/>
                <a:ea typeface="DejaVu Sans"/>
                <a:cs typeface="DejaVu Sans"/>
              </a:rPr>
              <a:t>Inter-Process Chat Application</a:t>
            </a:r>
          </a:p>
          <a:p xmlns:a="http://schemas.openxmlformats.org/drawingml/2006/main">
            <a:pPr algn="l">
              <a:defRPr sz="3150" b="1">
                <a:solidFill>
                  <a:srgbClr val="6756A7"/>
                </a:solidFill>
                <a:latin typeface="DejaVu Sans"/>
                <a:ea typeface="DejaVu Sans"/>
                <a:cs typeface="DejaVu Sans"/>
              </a:defRPr>
            </a:pPr>
            <a:r>
              <a:rPr sz="3150" b="1">
                <a:solidFill>
                  <a:srgbClr val="6756A7"/>
                </a:solidFill>
                <a:latin typeface="DejaVu Sans"/>
                <a:ea typeface="DejaVu Sans"/>
                <a:cs typeface="DejaVu Sans"/>
              </a:rPr>
              <a:t>Using IPC</a:t>
            </a:r>
          </a:p>
        </p:txBody>
      </p:sp>
      <p:sp>
        <p:nvSpPr>
          <p:cNvPr id="5" name="text-5">
            <a:extLst xmlns:a="http://schemas.openxmlformats.org/drawingml/2006/main">
              <a:ext uri="{FF2B5EF4-FFF2-40B4-BE49-F238E27FC236}">
                <a16:creationId xmlns:a16="http://schemas.microsoft.com/office/drawing/2014/main" id="{E3804EA8-F8D6-432B-8900-2C96868A99B6}"/>
              </a:ext>
            </a:extLst>
          </p:cNvPr>
          <p:cNvSpPr>
            <a:spLocks xmlns:a="http://schemas.openxmlformats.org/drawingml/2006/main" noGrp="1"/>
          </p:cNvSpPr>
          <p:nvPr/>
        </p:nvSpPr>
        <p:spPr>
          <a:xfrm xmlns:a="http://schemas.openxmlformats.org/drawingml/2006/main">
            <a:off x="666750" y="2762250"/>
            <a:ext cx="9525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697383"/>
                </a:solidFill>
                <a:latin typeface="DejaVu Sans"/>
                <a:ea typeface="DejaVu Sans"/>
                <a:cs typeface="DejaVu Sans"/>
              </a:defRPr>
            </a:defPPr>
          </a:lstStyle>
          <a:p xmlns:a="http://schemas.openxmlformats.org/drawingml/2006/main">
            <a:pPr algn="l">
              <a:defRPr sz="2025" b="0">
                <a:solidFill>
                  <a:srgbClr val="697383"/>
                </a:solidFill>
                <a:latin typeface="DejaVu Sans"/>
                <a:ea typeface="DejaVu Sans"/>
                <a:cs typeface="DejaVu Sans"/>
              </a:defRPr>
            </a:pPr>
            <a:r>
              <a:rPr sz="2025" b="0">
                <a:solidFill>
                  <a:srgbClr val="697383"/>
                </a:solidFill>
                <a:latin typeface="DejaVu Sans"/>
                <a:ea typeface="DejaVu Sans"/>
                <a:cs typeface="DejaVu Sans"/>
              </a:rPr>
              <a:t>OSSP Hackathon  |  Team 8</a:t>
            </a:r>
          </a:p>
        </p:txBody>
      </p:sp>
      <p:sp>
        <p:nvSpPr>
          <p:cNvPr id="6" name="text-6">
            <a:extLst xmlns:a="http://schemas.openxmlformats.org/drawingml/2006/main">
              <a:ext uri="{FF2B5EF4-FFF2-40B4-BE49-F238E27FC236}">
                <a16:creationId xmlns:a16="http://schemas.microsoft.com/office/drawing/2014/main" id="{7B8DF442-26AE-4DCD-AD4D-ECAF6A9A606F}"/>
              </a:ext>
            </a:extLst>
          </p:cNvPr>
          <p:cNvSpPr>
            <a:spLocks xmlns:a="http://schemas.openxmlformats.org/drawingml/2006/main" noGrp="1"/>
          </p:cNvSpPr>
          <p:nvPr/>
        </p:nvSpPr>
        <p:spPr>
          <a:xfrm xmlns:a="http://schemas.openxmlformats.org/drawingml/2006/main">
            <a:off x="666750" y="3600450"/>
            <a:ext cx="619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222B38"/>
                </a:solidFill>
                <a:latin typeface="DejaVu Sans"/>
                <a:ea typeface="DejaVu Sans"/>
                <a:cs typeface="DejaVu Sans"/>
              </a:defRPr>
            </a:defPPr>
          </a:lstStyle>
          <a:p xmlns:a="http://schemas.openxmlformats.org/drawingml/2006/main">
            <a:pPr algn="l">
              <a:defRPr sz="1875" b="1">
                <a:solidFill>
                  <a:srgbClr val="222B38"/>
                </a:solidFill>
                <a:latin typeface="DejaVu Sans"/>
                <a:ea typeface="DejaVu Sans"/>
                <a:cs typeface="DejaVu Sans"/>
              </a:defRPr>
            </a:pPr>
            <a:r>
              <a:rPr sz="1875" b="1">
                <a:solidFill>
                  <a:srgbClr val="222B38"/>
                </a:solidFill>
                <a:latin typeface="DejaVu Sans"/>
                <a:ea typeface="DejaVu Sans"/>
                <a:cs typeface="DejaVu Sans"/>
              </a:rPr>
              <a:t>Team members</a:t>
            </a:r>
          </a:p>
        </p:txBody>
      </p:sp>
      <p:sp>
        <p:nvSpPr>
          <p:cNvPr id="7" name="text-7">
            <a:extLst xmlns:a="http://schemas.openxmlformats.org/drawingml/2006/main">
              <a:ext uri="{FF2B5EF4-FFF2-40B4-BE49-F238E27FC236}">
                <a16:creationId xmlns:a16="http://schemas.microsoft.com/office/drawing/2014/main" id="{8D6ACC15-1BA8-45BD-A3E9-7A25F281B400}"/>
              </a:ext>
            </a:extLst>
          </p:cNvPr>
          <p:cNvSpPr>
            <a:spLocks xmlns:a="http://schemas.openxmlformats.org/drawingml/2006/main" noGrp="1"/>
          </p:cNvSpPr>
          <p:nvPr/>
        </p:nvSpPr>
        <p:spPr>
          <a:xfrm xmlns:a="http://schemas.openxmlformats.org/drawingml/2006/main">
            <a:off x="666750" y="4095750"/>
            <a:ext cx="66675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222B38"/>
                </a:solidFill>
                <a:latin typeface="DejaVu Sans"/>
                <a:ea typeface="DejaVu Sans"/>
                <a:cs typeface="DejaVu Sans"/>
              </a:defRPr>
            </a:defPPr>
          </a:lstStyle>
          <a:p xmlns:a="http://schemas.openxmlformats.org/drawingml/2006/main">
            <a:pPr algn="l">
              <a:defRPr sz="1875" b="0">
                <a:solidFill>
                  <a:srgbClr val="222B38"/>
                </a:solidFill>
                <a:latin typeface="DejaVu Sans"/>
                <a:ea typeface="DejaVu Sans"/>
                <a:cs typeface="DejaVu Sans"/>
              </a:defRPr>
            </a:pPr>
            <a:r>
              <a:rPr sz="1875" b="0">
                <a:solidFill>
                  <a:srgbClr val="222B38"/>
                </a:solidFill>
                <a:latin typeface="DejaVu Sans"/>
                <a:ea typeface="DejaVu Sans"/>
                <a:cs typeface="DejaVu Sans"/>
              </a:rPr>
              <a:t>Abhay Tripathi     2520030353</a:t>
            </a:r>
          </a:p>
          <a:p xmlns:a="http://schemas.openxmlformats.org/drawingml/2006/main">
            <a:pPr algn="l">
              <a:defRPr sz="1875" b="0">
                <a:solidFill>
                  <a:srgbClr val="222B38"/>
                </a:solidFill>
                <a:latin typeface="DejaVu Sans"/>
                <a:ea typeface="DejaVu Sans"/>
                <a:cs typeface="DejaVu Sans"/>
              </a:defRPr>
            </a:pPr>
            <a:r>
              <a:rPr sz="1875" b="0">
                <a:solidFill>
                  <a:srgbClr val="222B38"/>
                </a:solidFill>
                <a:latin typeface="DejaVu Sans"/>
                <a:ea typeface="DejaVu Sans"/>
                <a:cs typeface="DejaVu Sans"/>
              </a:rPr>
              <a:t>K. Pranav             2520030477</a:t>
            </a:r>
          </a:p>
          <a:p xmlns:a="http://schemas.openxmlformats.org/drawingml/2006/main">
            <a:pPr algn="l">
              <a:defRPr sz="1875" b="0">
                <a:solidFill>
                  <a:srgbClr val="222B38"/>
                </a:solidFill>
                <a:latin typeface="DejaVu Sans"/>
                <a:ea typeface="DejaVu Sans"/>
                <a:cs typeface="DejaVu Sans"/>
              </a:defRPr>
            </a:pPr>
            <a:r>
              <a:rPr sz="1875" b="0">
                <a:solidFill>
                  <a:srgbClr val="222B38"/>
                </a:solidFill>
                <a:latin typeface="DejaVu Sans"/>
                <a:ea typeface="DejaVu Sans"/>
                <a:cs typeface="DejaVu Sans"/>
              </a:rPr>
              <a:t>Jashwanth             2520030236</a:t>
            </a:r>
          </a:p>
        </p:txBody>
      </p:sp>
      <p:sp>
        <p:nvSpPr>
          <p:cNvPr id="8" name="text-8">
            <a:extLst xmlns:a="http://schemas.openxmlformats.org/drawingml/2006/main">
              <a:ext uri="{FF2B5EF4-FFF2-40B4-BE49-F238E27FC236}">
                <a16:creationId xmlns:a16="http://schemas.microsoft.com/office/drawing/2014/main" id="{1C61909F-09AD-49F5-9549-B09C466BCAEE}"/>
              </a:ext>
            </a:extLst>
          </p:cNvPr>
          <p:cNvSpPr>
            <a:spLocks xmlns:a="http://schemas.openxmlformats.org/drawingml/2006/main" noGrp="1"/>
          </p:cNvSpPr>
          <p:nvPr/>
        </p:nvSpPr>
        <p:spPr>
          <a:xfrm xmlns:a="http://schemas.openxmlformats.org/drawingml/2006/main">
            <a:off x="8096250" y="4095750"/>
            <a:ext cx="33337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222B38"/>
                </a:solidFill>
                <a:latin typeface="DejaVu Sans"/>
                <a:ea typeface="DejaVu Sans"/>
                <a:cs typeface="DejaVu Sans"/>
              </a:defRPr>
            </a:defPPr>
          </a:lstStyle>
          <a:p xmlns:a="http://schemas.openxmlformats.org/drawingml/2006/main">
            <a:pPr algn="l">
              <a:defRPr sz="2100" b="1">
                <a:solidFill>
                  <a:srgbClr val="222B38"/>
                </a:solidFill>
                <a:latin typeface="DejaVu Sans"/>
                <a:ea typeface="DejaVu Sans"/>
                <a:cs typeface="DejaVu Sans"/>
              </a:defRPr>
            </a:pPr>
            <a:r>
              <a:rPr sz="2100" b="1">
                <a:solidFill>
                  <a:srgbClr val="222B38"/>
                </a:solidFill>
                <a:latin typeface="DejaVu Sans"/>
                <a:ea typeface="DejaVu Sans"/>
                <a:cs typeface="DejaVu Sans"/>
              </a:rPr>
              <a:t>Guided by:</a:t>
            </a:r>
          </a:p>
          <a:p xmlns:a="http://schemas.openxmlformats.org/drawingml/2006/main">
            <a:pPr algn="l">
              <a:defRPr sz="2100" b="1">
                <a:solidFill>
                  <a:srgbClr val="222B38"/>
                </a:solidFill>
                <a:latin typeface="DejaVu Sans"/>
                <a:ea typeface="DejaVu Sans"/>
                <a:cs typeface="DejaVu Sans"/>
              </a:defRPr>
            </a:pPr>
            <a:r>
              <a:rPr sz="2100" b="1">
                <a:solidFill>
                  <a:srgbClr val="222B38"/>
                </a:solidFill>
                <a:latin typeface="DejaVu Sans"/>
                <a:ea typeface="DejaVu Sans"/>
                <a:cs typeface="DejaVu Sans"/>
              </a:rPr>
              <a:t>Ms. Soumya</a:t>
            </a:r>
          </a:p>
        </p:txBody>
      </p:sp>
      <p:sp>
        <p:nvSpPr>
          <p:cNvPr id="9" name="text-9">
            <a:extLst xmlns:a="http://schemas.openxmlformats.org/drawingml/2006/main">
              <a:ext uri="{FF2B5EF4-FFF2-40B4-BE49-F238E27FC236}">
                <a16:creationId xmlns:a16="http://schemas.microsoft.com/office/drawing/2014/main" id="{79FF3A04-53EE-4E9B-B9BC-894BA58A95D6}"/>
              </a:ext>
            </a:extLst>
          </p:cNvPr>
          <p:cNvSpPr>
            <a:spLocks xmlns:a="http://schemas.openxmlformats.org/drawingml/2006/main" noGrp="1"/>
          </p:cNvSpPr>
          <p:nvPr/>
        </p:nvSpPr>
        <p:spPr>
          <a:xfrm xmlns:a="http://schemas.openxmlformats.org/drawingml/2006/main">
            <a:off x="666750" y="5810250"/>
            <a:ext cx="9525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697383"/>
                </a:solidFill>
                <a:latin typeface="DejaVu Sans"/>
                <a:ea typeface="DejaVu Sans"/>
                <a:cs typeface="DejaVu Sans"/>
              </a:defRPr>
            </a:defPPr>
          </a:lstStyle>
          <a:p xmlns:a="http://schemas.openxmlformats.org/drawingml/2006/main">
            <a:pPr algn="l">
              <a:defRPr sz="1725" b="0">
                <a:solidFill>
                  <a:srgbClr val="697383"/>
                </a:solidFill>
                <a:latin typeface="DejaVu Sans"/>
                <a:ea typeface="DejaVu Sans"/>
                <a:cs typeface="DejaVu Sans"/>
              </a:defRPr>
            </a:pPr>
            <a:r>
              <a:rPr sz="1725" b="0">
                <a:solidFill>
                  <a:srgbClr val="697383"/>
                </a:solidFill>
                <a:latin typeface="DejaVu Sans"/>
                <a:ea typeface="DejaVu Sans"/>
                <a:cs typeface="DejaVu Sans"/>
              </a:rPr>
              <a:t>17 October 2026</a:t>
            </a:r>
          </a:p>
        </p:txBody>
      </p:sp>
    </p:spTree>
    <p:extLst>
      <p:ext uri="{BB962C8B-B14F-4D97-AF65-F5344CB8AC3E}">
        <p14:creationId xmlns:p14="http://schemas.microsoft.com/office/powerpoint/2010/main" val="1321230425"/>
      </p:ext>
    </p:extLst>
  </p:cSld>
</p:sld>
</file>

<file path=ppt/slides/slide2.xml><?xml version="1.0" encoding="utf-8"?>
<p:sld xmlns:p="http://schemas.openxmlformats.org/presentationml/2006/main">
  <p:cSld>
    <p:bg>
      <p:bgPr>
        <a:solidFill xmlns:a="http://schemas.openxmlformats.org/drawingml/2006/main">
          <a:srgbClr val="FCFBF8"/>
        </a:solidFill>
      </p:bgPr>
    </p:bg>
    <p:spTree>
      <p:nvGrpSpPr>
        <p:cNvPr id="1" name=""/>
        <p:cNvGrpSpPr/>
        <p:nvPr/>
      </p:nvGrpSpPr>
      <p:grpSpPr>
        <a:xfrm xmlns:a="http://schemas.openxmlformats.org/drawingml/2006/main"/>
      </p:grpSpPr>
      <p:sp>
        <p:nvSpPr>
          <p:cNvPr id="9" name="text-10">
            <a:extLst xmlns:a="http://schemas.openxmlformats.org/drawingml/2006/main">
              <a:ext uri="{FF2B5EF4-FFF2-40B4-BE49-F238E27FC236}">
                <a16:creationId xmlns:a16="http://schemas.microsoft.com/office/drawing/2014/main" id="{DC48E693-FE60-4D5D-8DB2-3F7454AC9249}"/>
              </a:ext>
            </a:extLst>
          </p:cNvPr>
          <p:cNvSpPr>
            <a:spLocks xmlns:a="http://schemas.openxmlformats.org/drawingml/2006/main" noGrp="1"/>
          </p:cNvSpPr>
          <p:nvPr/>
        </p:nvSpPr>
        <p:spPr>
          <a:xfrm xmlns:a="http://schemas.openxmlformats.org/drawingml/2006/main">
            <a:off x="628650" y="428625"/>
            <a:ext cx="10953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222B38"/>
                </a:solidFill>
                <a:latin typeface="DejaVu Sans"/>
                <a:ea typeface="DejaVu Sans"/>
                <a:cs typeface="DejaVu Sans"/>
              </a:defRPr>
            </a:defPPr>
          </a:lstStyle>
          <a:p xmlns:a="http://schemas.openxmlformats.org/drawingml/2006/main">
            <a:pPr algn="l">
              <a:defRPr sz="3300" b="1">
                <a:solidFill>
                  <a:srgbClr val="222B38"/>
                </a:solidFill>
                <a:latin typeface="DejaVu Sans"/>
                <a:ea typeface="DejaVu Sans"/>
                <a:cs typeface="DejaVu Sans"/>
              </a:defRPr>
            </a:pPr>
            <a:r>
              <a:rPr sz="3300" b="1">
                <a:solidFill>
                  <a:srgbClr val="222B38"/>
                </a:solidFill>
                <a:latin typeface="DejaVu Sans"/>
                <a:ea typeface="DejaVu Sans"/>
                <a:cs typeface="DejaVu Sans"/>
              </a:rPr>
              <a:t>Problem and Proposed Solution</a:t>
            </a:r>
          </a:p>
        </p:txBody>
      </p:sp>
      <p:sp>
        <p:nvSpPr>
          <p:cNvPr id="2" name="text-11">
            <a:extLst xmlns:a="http://schemas.openxmlformats.org/drawingml/2006/main">
              <a:ext uri="{FF2B5EF4-FFF2-40B4-BE49-F238E27FC236}">
                <a16:creationId xmlns:a16="http://schemas.microsoft.com/office/drawing/2014/main" id="{957C58FC-2756-4639-942D-C96E8BE54932}"/>
              </a:ext>
            </a:extLst>
          </p:cNvPr>
          <p:cNvSpPr>
            <a:spLocks xmlns:a="http://schemas.openxmlformats.org/drawingml/2006/main" noGrp="1"/>
          </p:cNvSpPr>
          <p:nvPr/>
        </p:nvSpPr>
        <p:spPr>
          <a:xfrm xmlns:a="http://schemas.openxmlformats.org/drawingml/2006/main">
            <a:off x="628650" y="6477000"/>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0">
                <a:solidFill>
                  <a:srgbClr val="697383"/>
                </a:solidFill>
                <a:latin typeface="DejaVu Sans"/>
                <a:ea typeface="DejaVu Sans"/>
                <a:cs typeface="DejaVu Sans"/>
              </a:defRPr>
            </a:defPPr>
          </a:lstStyle>
          <a:p xmlns:a="http://schemas.openxmlformats.org/drawingml/2006/main">
            <a:pPr algn="l">
              <a:defRPr sz="1050" b="0">
                <a:solidFill>
                  <a:srgbClr val="697383"/>
                </a:solidFill>
                <a:latin typeface="DejaVu Sans"/>
                <a:ea typeface="DejaVu Sans"/>
                <a:cs typeface="DejaVu Sans"/>
              </a:defRPr>
            </a:pPr>
            <a:r>
              <a:rPr sz="1050" b="0">
                <a:solidFill>
                  <a:srgbClr val="697383"/>
                </a:solidFill>
                <a:latin typeface="DejaVu Sans"/>
                <a:ea typeface="DejaVu Sans"/>
                <a:cs typeface="DejaVu Sans"/>
              </a:rPr>
              <a:t>PipeTalk  /  OSSP Hackathon Team 8</a:t>
            </a:r>
          </a:p>
        </p:txBody>
      </p:sp>
      <p:sp>
        <p:nvSpPr>
          <p:cNvPr id="3" name="text-12">
            <a:extLst xmlns:a="http://schemas.openxmlformats.org/drawingml/2006/main">
              <a:ext uri="{FF2B5EF4-FFF2-40B4-BE49-F238E27FC236}">
                <a16:creationId xmlns:a16="http://schemas.microsoft.com/office/drawing/2014/main" id="{C391AB33-F4D7-4598-9A9B-0479EE6A81E3}"/>
              </a:ext>
            </a:extLst>
          </p:cNvPr>
          <p:cNvSpPr>
            <a:spLocks xmlns:a="http://schemas.openxmlformats.org/drawingml/2006/main" noGrp="1"/>
          </p:cNvSpPr>
          <p:nvPr/>
        </p:nvSpPr>
        <p:spPr>
          <a:xfrm xmlns:a="http://schemas.openxmlformats.org/drawingml/2006/main">
            <a:off x="11049000" y="647700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0">
                <a:solidFill>
                  <a:srgbClr val="697383"/>
                </a:solidFill>
                <a:latin typeface="DejaVu Sans"/>
                <a:ea typeface="DejaVu Sans"/>
                <a:cs typeface="DejaVu Sans"/>
              </a:defRPr>
            </a:defPPr>
          </a:lstStyle>
          <a:p xmlns:a="http://schemas.openxmlformats.org/drawingml/2006/main">
            <a:pPr algn="l">
              <a:defRPr sz="1050" b="0">
                <a:solidFill>
                  <a:srgbClr val="697383"/>
                </a:solidFill>
                <a:latin typeface="DejaVu Sans"/>
                <a:ea typeface="DejaVu Sans"/>
                <a:cs typeface="DejaVu Sans"/>
              </a:defRPr>
            </a:pPr>
            <a:r>
              <a:rPr sz="1050" b="0">
                <a:solidFill>
                  <a:srgbClr val="697383"/>
                </a:solidFill>
                <a:latin typeface="DejaVu Sans"/>
                <a:ea typeface="DejaVu Sans"/>
                <a:cs typeface="DejaVu Sans"/>
              </a:rPr>
              <a:t>02</a:t>
            </a:r>
          </a:p>
        </p:txBody>
      </p:sp>
      <p:sp>
        <p:nvSpPr>
          <p:cNvPr id="4" name="text-13">
            <a:extLst xmlns:a="http://schemas.openxmlformats.org/drawingml/2006/main">
              <a:ext uri="{FF2B5EF4-FFF2-40B4-BE49-F238E27FC236}">
                <a16:creationId xmlns:a16="http://schemas.microsoft.com/office/drawing/2014/main" id="{BFE94AE6-51A8-400D-85BC-94140BF62B65}"/>
              </a:ext>
            </a:extLst>
          </p:cNvPr>
          <p:cNvSpPr>
            <a:spLocks xmlns:a="http://schemas.openxmlformats.org/drawingml/2006/main" noGrp="1"/>
          </p:cNvSpPr>
          <p:nvPr/>
        </p:nvSpPr>
        <p:spPr>
          <a:xfrm xmlns:a="http://schemas.openxmlformats.org/drawingml/2006/main">
            <a:off x="666750" y="1571625"/>
            <a:ext cx="4857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6756A7"/>
                </a:solidFill>
                <a:latin typeface="DejaVu Sans"/>
                <a:ea typeface="DejaVu Sans"/>
                <a:cs typeface="DejaVu Sans"/>
              </a:defRPr>
            </a:defPPr>
          </a:lstStyle>
          <a:p xmlns:a="http://schemas.openxmlformats.org/drawingml/2006/main">
            <a:pPr algn="l">
              <a:defRPr sz="2325" b="1">
                <a:solidFill>
                  <a:srgbClr val="6756A7"/>
                </a:solidFill>
                <a:latin typeface="DejaVu Sans"/>
                <a:ea typeface="DejaVu Sans"/>
                <a:cs typeface="DejaVu Sans"/>
              </a:defRPr>
            </a:pPr>
            <a:r>
              <a:rPr sz="2325" b="1">
                <a:solidFill>
                  <a:srgbClr val="6756A7"/>
                </a:solidFill>
                <a:latin typeface="DejaVu Sans"/>
                <a:ea typeface="DejaVu Sans"/>
                <a:cs typeface="DejaVu Sans"/>
              </a:rPr>
              <a:t>The problem</a:t>
            </a:r>
          </a:p>
        </p:txBody>
      </p:sp>
      <p:sp>
        <p:nvSpPr>
          <p:cNvPr id="5" name="text-14">
            <a:extLst xmlns:a="http://schemas.openxmlformats.org/drawingml/2006/main">
              <a:ext uri="{FF2B5EF4-FFF2-40B4-BE49-F238E27FC236}">
                <a16:creationId xmlns:a16="http://schemas.microsoft.com/office/drawing/2014/main" id="{D1D37B46-003E-48A2-9F7A-70A509B95DAE}"/>
              </a:ext>
            </a:extLst>
          </p:cNvPr>
          <p:cNvSpPr>
            <a:spLocks xmlns:a="http://schemas.openxmlformats.org/drawingml/2006/main" noGrp="1"/>
          </p:cNvSpPr>
          <p:nvPr/>
        </p:nvSpPr>
        <p:spPr>
          <a:xfrm xmlns:a="http://schemas.openxmlformats.org/drawingml/2006/main">
            <a:off x="666750" y="2238375"/>
            <a:ext cx="4857750" cy="2762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0">
                <a:solidFill>
                  <a:srgbClr val="222B38"/>
                </a:solidFill>
                <a:latin typeface="DejaVu Sans"/>
                <a:ea typeface="DejaVu Sans"/>
                <a:cs typeface="DejaVu Sans"/>
              </a:defRPr>
            </a:defPPr>
          </a:lstStyle>
          <a:p xmlns:a="http://schemas.openxmlformats.org/drawingml/2006/main">
            <a:pPr algn="l">
              <a:defRPr sz="2175" b="0">
                <a:solidFill>
                  <a:srgbClr val="222B38"/>
                </a:solidFill>
                <a:latin typeface="DejaVu Sans"/>
                <a:ea typeface="DejaVu Sans"/>
                <a:cs typeface="DejaVu Sans"/>
              </a:defRPr>
            </a:pPr>
            <a:r>
              <a:rPr sz="2175" b="0">
                <a:solidFill>
                  <a:srgbClr val="222B38"/>
                </a:solidFill>
                <a:latin typeface="DejaVu Sans"/>
                <a:ea typeface="DejaVu Sans"/>
                <a:cs typeface="DejaVu Sans"/>
              </a:rPr>
              <a:t>Independent processes need a way to exchange data.</a:t>
            </a:r>
          </a:p>
          <a:p xmlns:a="http://schemas.openxmlformats.org/drawingml/2006/main">
            <a:r>
              <a:t/>
            </a:r>
          </a:p>
          <a:p xmlns:a="http://schemas.openxmlformats.org/drawingml/2006/main">
            <a:pPr algn="l">
              <a:defRPr sz="2175" b="0">
                <a:solidFill>
                  <a:srgbClr val="222B38"/>
                </a:solidFill>
                <a:latin typeface="DejaVu Sans"/>
                <a:ea typeface="DejaVu Sans"/>
                <a:cs typeface="DejaVu Sans"/>
              </a:defRPr>
            </a:pPr>
            <a:r>
              <a:rPr sz="2175" b="0">
                <a:solidFill>
                  <a:srgbClr val="222B38"/>
                </a:solidFill>
                <a:latin typeface="DejaVu Sans"/>
                <a:ea typeface="DejaVu Sans"/>
                <a:cs typeface="DejaVu Sans"/>
              </a:rPr>
              <a:t>A terminal-only example makes the message journey difficult to observe.</a:t>
            </a:r>
          </a:p>
        </p:txBody>
      </p:sp>
      <p:sp>
        <p:nvSpPr>
          <p:cNvPr id="6" name="text-15">
            <a:extLst xmlns:a="http://schemas.openxmlformats.org/drawingml/2006/main">
              <a:ext uri="{FF2B5EF4-FFF2-40B4-BE49-F238E27FC236}">
                <a16:creationId xmlns:a16="http://schemas.microsoft.com/office/drawing/2014/main" id="{7CBB4700-F7CE-4999-BE02-1EC2967EE692}"/>
              </a:ext>
            </a:extLst>
          </p:cNvPr>
          <p:cNvSpPr>
            <a:spLocks xmlns:a="http://schemas.openxmlformats.org/drawingml/2006/main" noGrp="1"/>
          </p:cNvSpPr>
          <p:nvPr/>
        </p:nvSpPr>
        <p:spPr>
          <a:xfrm xmlns:a="http://schemas.openxmlformats.org/drawingml/2006/main">
            <a:off x="6572250" y="1571625"/>
            <a:ext cx="4857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6756A7"/>
                </a:solidFill>
                <a:latin typeface="DejaVu Sans"/>
                <a:ea typeface="DejaVu Sans"/>
                <a:cs typeface="DejaVu Sans"/>
              </a:defRPr>
            </a:defPPr>
          </a:lstStyle>
          <a:p xmlns:a="http://schemas.openxmlformats.org/drawingml/2006/main">
            <a:pPr algn="l">
              <a:defRPr sz="2325" b="1">
                <a:solidFill>
                  <a:srgbClr val="6756A7"/>
                </a:solidFill>
                <a:latin typeface="DejaVu Sans"/>
                <a:ea typeface="DejaVu Sans"/>
                <a:cs typeface="DejaVu Sans"/>
              </a:defRPr>
            </a:pPr>
            <a:r>
              <a:rPr sz="2325" b="1">
                <a:solidFill>
                  <a:srgbClr val="6756A7"/>
                </a:solidFill>
                <a:latin typeface="DejaVu Sans"/>
                <a:ea typeface="DejaVu Sans"/>
                <a:cs typeface="DejaVu Sans"/>
              </a:rPr>
              <a:t>Our implementation</a:t>
            </a:r>
          </a:p>
        </p:txBody>
      </p:sp>
      <p:sp>
        <p:nvSpPr>
          <p:cNvPr id="7" name="text-16">
            <a:extLst xmlns:a="http://schemas.openxmlformats.org/drawingml/2006/main">
              <a:ext uri="{FF2B5EF4-FFF2-40B4-BE49-F238E27FC236}">
                <a16:creationId xmlns:a16="http://schemas.microsoft.com/office/drawing/2014/main" id="{D29DA310-C5A7-47EE-AF4D-75354703A5BF}"/>
              </a:ext>
            </a:extLst>
          </p:cNvPr>
          <p:cNvSpPr>
            <a:spLocks xmlns:a="http://schemas.openxmlformats.org/drawingml/2006/main" noGrp="1"/>
          </p:cNvSpPr>
          <p:nvPr/>
        </p:nvSpPr>
        <p:spPr>
          <a:xfrm xmlns:a="http://schemas.openxmlformats.org/drawingml/2006/main">
            <a:off x="6572250" y="2238375"/>
            <a:ext cx="4857750" cy="2857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0">
                <a:solidFill>
                  <a:srgbClr val="222B38"/>
                </a:solidFill>
                <a:latin typeface="DejaVu Sans"/>
                <a:ea typeface="DejaVu Sans"/>
                <a:cs typeface="DejaVu Sans"/>
              </a:defRPr>
            </a:defPPr>
          </a:lstStyle>
          <a:p xmlns:a="http://schemas.openxmlformats.org/drawingml/2006/main">
            <a:pPr algn="l">
              <a:defRPr sz="2175" b="0">
                <a:solidFill>
                  <a:srgbClr val="222B38"/>
                </a:solidFill>
                <a:latin typeface="DejaVu Sans"/>
                <a:ea typeface="DejaVu Sans"/>
                <a:cs typeface="DejaVu Sans"/>
              </a:defRPr>
            </a:pPr>
            <a:r>
              <a:rPr sz="2175" b="0">
                <a:solidFill>
                  <a:srgbClr val="222B38"/>
                </a:solidFill>
                <a:latin typeface="DejaVu Sans"/>
                <a:ea typeface="DejaVu Sans"/>
                <a:cs typeface="DejaVu Sans"/>
              </a:rPr>
              <a:t>Two C processes communicate through two Linux named pipes.</a:t>
            </a:r>
          </a:p>
          <a:p xmlns:a="http://schemas.openxmlformats.org/drawingml/2006/main">
            <a:r>
              <a:t/>
            </a:r>
          </a:p>
          <a:p xmlns:a="http://schemas.openxmlformats.org/drawingml/2006/main">
            <a:pPr algn="l">
              <a:defRPr sz="2175" b="0">
                <a:solidFill>
                  <a:srgbClr val="222B38"/>
                </a:solidFill>
                <a:latin typeface="DejaVu Sans"/>
                <a:ea typeface="DejaVu Sans"/>
                <a:cs typeface="DejaVu Sans"/>
              </a:defRPr>
            </a:pPr>
            <a:r>
              <a:rPr sz="2175" b="0">
                <a:solidFill>
                  <a:srgbClr val="222B38"/>
                </a:solidFill>
                <a:latin typeface="DejaVu Sans"/>
                <a:ea typeface="DejaVu Sans"/>
                <a:cs typeface="DejaVu Sans"/>
              </a:rPr>
              <a:t>The website shows messages, receiving confirmations and live process details.</a:t>
            </a:r>
          </a:p>
        </p:txBody>
      </p:sp>
      <p:sp>
        <p:nvSpPr>
          <p:cNvPr id="8" name="text-17">
            <a:extLst xmlns:a="http://schemas.openxmlformats.org/drawingml/2006/main">
              <a:ext uri="{FF2B5EF4-FFF2-40B4-BE49-F238E27FC236}">
                <a16:creationId xmlns:a16="http://schemas.microsoft.com/office/drawing/2014/main" id="{7F1CADEC-310E-42E5-8722-D2BD03A23FDD}"/>
              </a:ext>
            </a:extLst>
          </p:cNvPr>
          <p:cNvSpPr>
            <a:spLocks xmlns:a="http://schemas.openxmlformats.org/drawingml/2006/main" noGrp="1"/>
          </p:cNvSpPr>
          <p:nvPr/>
        </p:nvSpPr>
        <p:spPr>
          <a:xfrm xmlns:a="http://schemas.openxmlformats.org/drawingml/2006/main">
            <a:off x="666750" y="5657850"/>
            <a:ext cx="10668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697383"/>
                </a:solidFill>
                <a:latin typeface="DejaVu Sans"/>
                <a:ea typeface="DejaVu Sans"/>
                <a:cs typeface="DejaVu Sans"/>
              </a:defRPr>
            </a:defPPr>
          </a:lstStyle>
          <a:p xmlns:a="http://schemas.openxmlformats.org/drawingml/2006/main">
            <a:pPr algn="l">
              <a:defRPr sz="2025" b="0">
                <a:solidFill>
                  <a:srgbClr val="697383"/>
                </a:solidFill>
                <a:latin typeface="DejaVu Sans"/>
                <a:ea typeface="DejaVu Sans"/>
                <a:cs typeface="DejaVu Sans"/>
              </a:defRPr>
            </a:pPr>
            <a:r>
              <a:rPr sz="2025" b="0">
                <a:solidFill>
                  <a:srgbClr val="697383"/>
                </a:solidFill>
                <a:latin typeface="DejaVu Sans"/>
                <a:ea typeface="DejaVu Sans"/>
                <a:cs typeface="DejaVu Sans"/>
              </a:rPr>
              <a:t>Required outcome: a working two-way IPC prototype</a:t>
            </a:r>
          </a:p>
        </p:txBody>
      </p:sp>
    </p:spTree>
    <p:extLst>
      <p:ext uri="{BB962C8B-B14F-4D97-AF65-F5344CB8AC3E}">
        <p14:creationId xmlns:p14="http://schemas.microsoft.com/office/powerpoint/2010/main" val="1927481059"/>
      </p:ext>
    </p:extLst>
  </p:cSld>
</p:sld>
</file>

<file path=ppt/slides/slide3.xml><?xml version="1.0" encoding="utf-8"?>
<p:sld xmlns:p="http://schemas.openxmlformats.org/presentationml/2006/main">
  <p:cSld>
    <p:bg>
      <p:bgPr>
        <a:solidFill xmlns:a="http://schemas.openxmlformats.org/drawingml/2006/main">
          <a:srgbClr val="FCFBF8"/>
        </a:solidFill>
      </p:bgPr>
    </p:bg>
    <p:spTree>
      <p:nvGrpSpPr>
        <p:cNvPr id="1" name=""/>
        <p:cNvGrpSpPr/>
        <p:nvPr/>
      </p:nvGrpSpPr>
      <p:grpSpPr>
        <a:xfrm xmlns:a="http://schemas.openxmlformats.org/drawingml/2006/main"/>
      </p:grpSpPr>
      <p:sp>
        <p:nvSpPr>
          <p:cNvPr id="6" name="text-18">
            <a:extLst xmlns:a="http://schemas.openxmlformats.org/drawingml/2006/main">
              <a:ext uri="{FF2B5EF4-FFF2-40B4-BE49-F238E27FC236}">
                <a16:creationId xmlns:a16="http://schemas.microsoft.com/office/drawing/2014/main" id="{470CCEDC-D501-45E1-800E-0975C90670B2}"/>
              </a:ext>
            </a:extLst>
          </p:cNvPr>
          <p:cNvSpPr>
            <a:spLocks xmlns:a="http://schemas.openxmlformats.org/drawingml/2006/main" noGrp="1"/>
          </p:cNvSpPr>
          <p:nvPr/>
        </p:nvSpPr>
        <p:spPr>
          <a:xfrm xmlns:a="http://schemas.openxmlformats.org/drawingml/2006/main">
            <a:off x="628650" y="428625"/>
            <a:ext cx="10953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222B38"/>
                </a:solidFill>
                <a:latin typeface="DejaVu Sans"/>
                <a:ea typeface="DejaVu Sans"/>
                <a:cs typeface="DejaVu Sans"/>
              </a:defRPr>
            </a:defPPr>
          </a:lstStyle>
          <a:p xmlns:a="http://schemas.openxmlformats.org/drawingml/2006/main">
            <a:pPr algn="l">
              <a:defRPr sz="3300" b="1">
                <a:solidFill>
                  <a:srgbClr val="222B38"/>
                </a:solidFill>
                <a:latin typeface="DejaVu Sans"/>
                <a:ea typeface="DejaVu Sans"/>
                <a:cs typeface="DejaVu Sans"/>
              </a:defRPr>
            </a:pPr>
            <a:r>
              <a:rPr sz="3300" b="1">
                <a:solidFill>
                  <a:srgbClr val="222B38"/>
                </a:solidFill>
                <a:latin typeface="DejaVu Sans"/>
                <a:ea typeface="DejaVu Sans"/>
                <a:cs typeface="DejaVu Sans"/>
              </a:rPr>
              <a:t>System Architecture</a:t>
            </a:r>
          </a:p>
        </p:txBody>
      </p:sp>
      <p:sp>
        <p:nvSpPr>
          <p:cNvPr id="2" name="text-19">
            <a:extLst xmlns:a="http://schemas.openxmlformats.org/drawingml/2006/main">
              <a:ext uri="{FF2B5EF4-FFF2-40B4-BE49-F238E27FC236}">
                <a16:creationId xmlns:a16="http://schemas.microsoft.com/office/drawing/2014/main" id="{69EEEB99-C5BF-4F5B-AB8E-2F59B90E931D}"/>
              </a:ext>
            </a:extLst>
          </p:cNvPr>
          <p:cNvSpPr>
            <a:spLocks xmlns:a="http://schemas.openxmlformats.org/drawingml/2006/main" noGrp="1"/>
          </p:cNvSpPr>
          <p:nvPr/>
        </p:nvSpPr>
        <p:spPr>
          <a:xfrm xmlns:a="http://schemas.openxmlformats.org/drawingml/2006/main">
            <a:off x="628650" y="6477000"/>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0">
                <a:solidFill>
                  <a:srgbClr val="697383"/>
                </a:solidFill>
                <a:latin typeface="DejaVu Sans"/>
                <a:ea typeface="DejaVu Sans"/>
                <a:cs typeface="DejaVu Sans"/>
              </a:defRPr>
            </a:defPPr>
          </a:lstStyle>
          <a:p xmlns:a="http://schemas.openxmlformats.org/drawingml/2006/main">
            <a:pPr algn="l">
              <a:defRPr sz="1050" b="0">
                <a:solidFill>
                  <a:srgbClr val="697383"/>
                </a:solidFill>
                <a:latin typeface="DejaVu Sans"/>
                <a:ea typeface="DejaVu Sans"/>
                <a:cs typeface="DejaVu Sans"/>
              </a:defRPr>
            </a:pPr>
            <a:r>
              <a:rPr sz="1050" b="0">
                <a:solidFill>
                  <a:srgbClr val="697383"/>
                </a:solidFill>
                <a:latin typeface="DejaVu Sans"/>
                <a:ea typeface="DejaVu Sans"/>
                <a:cs typeface="DejaVu Sans"/>
              </a:rPr>
              <a:t>PipeTalk  /  OSSP Hackathon Team 8</a:t>
            </a:r>
          </a:p>
        </p:txBody>
      </p:sp>
      <p:sp>
        <p:nvSpPr>
          <p:cNvPr id="3" name="text-20">
            <a:extLst xmlns:a="http://schemas.openxmlformats.org/drawingml/2006/main">
              <a:ext uri="{FF2B5EF4-FFF2-40B4-BE49-F238E27FC236}">
                <a16:creationId xmlns:a16="http://schemas.microsoft.com/office/drawing/2014/main" id="{BED07684-E292-4DA3-A8A2-EE7B2B1E8047}"/>
              </a:ext>
            </a:extLst>
          </p:cNvPr>
          <p:cNvSpPr>
            <a:spLocks xmlns:a="http://schemas.openxmlformats.org/drawingml/2006/main" noGrp="1"/>
          </p:cNvSpPr>
          <p:nvPr/>
        </p:nvSpPr>
        <p:spPr>
          <a:xfrm xmlns:a="http://schemas.openxmlformats.org/drawingml/2006/main">
            <a:off x="11049000" y="647700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0">
                <a:solidFill>
                  <a:srgbClr val="697383"/>
                </a:solidFill>
                <a:latin typeface="DejaVu Sans"/>
                <a:ea typeface="DejaVu Sans"/>
                <a:cs typeface="DejaVu Sans"/>
              </a:defRPr>
            </a:defPPr>
          </a:lstStyle>
          <a:p xmlns:a="http://schemas.openxmlformats.org/drawingml/2006/main">
            <a:pPr algn="l">
              <a:defRPr sz="1050" b="0">
                <a:solidFill>
                  <a:srgbClr val="697383"/>
                </a:solidFill>
                <a:latin typeface="DejaVu Sans"/>
                <a:ea typeface="DejaVu Sans"/>
                <a:cs typeface="DejaVu Sans"/>
              </a:defRPr>
            </a:pPr>
            <a:r>
              <a:rPr sz="1050" b="0">
                <a:solidFill>
                  <a:srgbClr val="697383"/>
                </a:solidFill>
                <a:latin typeface="DejaVu Sans"/>
                <a:ea typeface="DejaVu Sans"/>
                <a:cs typeface="DejaVu Sans"/>
              </a:rPr>
              <a:t>03</a:t>
            </a:r>
          </a:p>
        </p:txBody>
      </p:sp>
      <p:graphicFrame>
        <p:nvGraphicFramePr>
          <p:cNvPr id="4" name="">
            <a:extLst xmlns:a="http://schemas.openxmlformats.org/drawingml/2006/main">
              <a:ext uri="{FF2B5EF4-FFF2-40B4-BE49-F238E27FC236}">
                <a16:creationId xmlns:a16="http://schemas.microsoft.com/office/drawing/2014/main" id="{971EDB89-2C09-47AE-900E-CD3B38C5AD14}"/>
              </a:ext>
            </a:extLst>
          </p:cNvPr>
          <p:cNvGraphicFramePr/>
          <p:nvPr/>
        </p:nvGraphicFramePr>
        <p:xfrm>
          <a:off xmlns:a="http://schemas.openxmlformats.org/drawingml/2006/main" x="628650" y="1524000"/>
          <a:ext xmlns:a="http://schemas.openxmlformats.org/drawingml/2006/main" cx="10934700" cy="3429000"/>
        </p:xfrm>
        <a:graphic xmlns:a="http://schemas.openxmlformats.org/drawingml/2006/main">
          <a:graphicData uri="http://schemas.openxmlformats.org/drawingml/2006/table">
            <a:tbl>
              <a:tblPr/>
              <a:tblGrid>
                <a:gridCol w="2000250"/>
                <a:gridCol w="4762500"/>
                <a:gridCol w="4171950"/>
              </a:tblGrid>
              <a:tr h="685800">
                <a:tc>
                  <a:txBody>
                    <a:bodyPr lIns="152400" tIns="123825" rIns="114300" bIns="95250">
                      <a:noAutofit/>
                    </a:bodyPr>
                    <a:lstStyle/>
                    <a:p>
                      <a:r>
                        <a:rPr sz="1950" b="1">
                          <a:solidFill>
                            <a:srgbClr val="FFFFFF"/>
                          </a:solidFill>
                          <a:latin typeface="DejaVu Sans"/>
                          <a:ea typeface="DejaVu Sans"/>
                          <a:cs typeface="DejaVu Sans"/>
                        </a:rPr>
                        <a:t>Layer</a:t>
                      </a:r>
                    </a:p>
                  </a:txBody>
                  <a:tcPr marL="91440" marR="91440" marT="45720" marB="45720" anchor="ctr">
                    <a:lnL w="9525">
                      <a:solidFill>
                        <a:srgbClr val="D9DBE1"/>
                      </a:solidFill>
                      <a:prstDash val="solid"/>
                    </a:lnL>
                    <a:lnR w="9525">
                      <a:solidFill>
                        <a:srgbClr val="D9DBE1"/>
                      </a:solidFill>
                      <a:prstDash val="solid"/>
                    </a:lnR>
                    <a:lnT w="9525">
                      <a:solidFill>
                        <a:srgbClr val="D9DBE1"/>
                      </a:solidFill>
                      <a:prstDash val="solid"/>
                    </a:lnT>
                    <a:lnB w="9525">
                      <a:solidFill>
                        <a:srgbClr val="D9DBE1"/>
                      </a:solidFill>
                      <a:prstDash val="solid"/>
                    </a:lnB>
                    <a:solidFill>
                      <a:srgbClr val="333B4B"/>
                    </a:solidFill>
                  </a:tcPr>
                </a:tc>
                <a:tc>
                  <a:txBody>
                    <a:bodyPr lIns="152400" tIns="123825" rIns="114300" bIns="95250">
                      <a:noAutofit/>
                    </a:bodyPr>
                    <a:lstStyle/>
                    <a:p>
                      <a:r>
                        <a:rPr sz="1950" b="1">
                          <a:solidFill>
                            <a:srgbClr val="FFFFFF"/>
                          </a:solidFill>
                          <a:latin typeface="DejaVu Sans"/>
                          <a:ea typeface="DejaVu Sans"/>
                          <a:cs typeface="DejaVu Sans"/>
                        </a:rPr>
                        <a:t>Implementation</a:t>
                      </a:r>
                    </a:p>
                  </a:txBody>
                  <a:tcPr marL="91440" marR="91440" marT="45720" marB="45720" anchor="ctr">
                    <a:lnR w="9525">
                      <a:solidFill>
                        <a:srgbClr val="D9DBE1"/>
                      </a:solidFill>
                      <a:prstDash val="solid"/>
                    </a:lnR>
                    <a:lnT w="9525">
                      <a:solidFill>
                        <a:srgbClr val="D9DBE1"/>
                      </a:solidFill>
                      <a:prstDash val="solid"/>
                    </a:lnT>
                    <a:lnB w="9525">
                      <a:solidFill>
                        <a:srgbClr val="D9DBE1"/>
                      </a:solidFill>
                      <a:prstDash val="solid"/>
                    </a:lnB>
                    <a:solidFill>
                      <a:srgbClr val="333B4B"/>
                    </a:solidFill>
                  </a:tcPr>
                </a:tc>
                <a:tc>
                  <a:txBody>
                    <a:bodyPr lIns="152400" tIns="123825" rIns="114300" bIns="95250">
                      <a:noAutofit/>
                    </a:bodyPr>
                    <a:lstStyle/>
                    <a:p>
                      <a:r>
                        <a:rPr sz="1950" b="1">
                          <a:solidFill>
                            <a:srgbClr val="FFFFFF"/>
                          </a:solidFill>
                          <a:latin typeface="DejaVu Sans"/>
                          <a:ea typeface="DejaVu Sans"/>
                          <a:cs typeface="DejaVu Sans"/>
                        </a:rPr>
                        <a:t>Connection</a:t>
                      </a:r>
                    </a:p>
                  </a:txBody>
                  <a:tcPr marL="91440" marR="91440" marT="45720" marB="45720" anchor="ctr">
                    <a:lnR w="9525">
                      <a:solidFill>
                        <a:srgbClr val="D9DBE1"/>
                      </a:solidFill>
                      <a:prstDash val="solid"/>
                    </a:lnR>
                    <a:lnT w="9525">
                      <a:solidFill>
                        <a:srgbClr val="D9DBE1"/>
                      </a:solidFill>
                      <a:prstDash val="solid"/>
                    </a:lnT>
                    <a:lnB w="9525">
                      <a:solidFill>
                        <a:srgbClr val="D9DBE1"/>
                      </a:solidFill>
                      <a:prstDash val="solid"/>
                    </a:lnB>
                    <a:solidFill>
                      <a:srgbClr val="333B4B"/>
                    </a:solidFill>
                  </a:tcPr>
                </a:tc>
              </a:tr>
              <a:tr h="685800">
                <a:tc>
                  <a:txBody>
                    <a:bodyPr lIns="152400" tIns="123825" rIns="114300" bIns="95250">
                      <a:noAutofit/>
                    </a:bodyPr>
                    <a:lstStyle/>
                    <a:p>
                      <a:r>
                        <a:rPr sz="1950" b="0">
                          <a:solidFill>
                            <a:srgbClr val="222B38"/>
                          </a:solidFill>
                          <a:latin typeface="DejaVu Sans"/>
                          <a:ea typeface="DejaVu Sans"/>
                          <a:cs typeface="DejaVu Sans"/>
                        </a:rPr>
                        <a:t>Interface</a:t>
                      </a:r>
                    </a:p>
                  </a:txBody>
                  <a:tcPr marL="91440" marR="91440" marT="45720" marB="45720" anchor="ctr">
                    <a:lnL w="9525">
                      <a:solidFill>
                        <a:srgbClr val="D9DBE1"/>
                      </a:solidFill>
                      <a:prstDash val="solid"/>
                    </a:lnL>
                    <a:lnR w="9525">
                      <a:solidFill>
                        <a:srgbClr val="D9DBE1"/>
                      </a:solidFill>
                      <a:prstDash val="solid"/>
                    </a:lnR>
                    <a:lnB w="9525">
                      <a:solidFill>
                        <a:srgbClr val="D9DBE1"/>
                      </a:solidFill>
                      <a:prstDash val="solid"/>
                    </a:lnB>
                    <a:solidFill>
                      <a:srgbClr val="FFFFFF"/>
                    </a:solidFill>
                  </a:tcPr>
                </a:tc>
                <a:tc>
                  <a:txBody>
                    <a:bodyPr lIns="152400" tIns="123825" rIns="114300" bIns="95250">
                      <a:noAutofit/>
                    </a:bodyPr>
                    <a:lstStyle/>
                    <a:p>
                      <a:r>
                        <a:rPr sz="1950" b="0">
                          <a:solidFill>
                            <a:srgbClr val="222B38"/>
                          </a:solidFill>
                          <a:latin typeface="DejaVu Sans"/>
                          <a:ea typeface="DejaVu Sans"/>
                          <a:cs typeface="DejaVu Sans"/>
                        </a:rPr>
                        <a:t>HTML, CSS and JavaScript</a:t>
                      </a:r>
                    </a:p>
                  </a:txBody>
                  <a:tcPr marL="91440" marR="91440" marT="45720" marB="45720" anchor="ctr">
                    <a:lnR w="9525">
                      <a:solidFill>
                        <a:srgbClr val="D9DBE1"/>
                      </a:solidFill>
                      <a:prstDash val="solid"/>
                    </a:lnR>
                    <a:lnB w="9525">
                      <a:solidFill>
                        <a:srgbClr val="D9DBE1"/>
                      </a:solidFill>
                      <a:prstDash val="solid"/>
                    </a:lnB>
                    <a:solidFill>
                      <a:srgbClr val="FFFFFF"/>
                    </a:solidFill>
                  </a:tcPr>
                </a:tc>
                <a:tc>
                  <a:txBody>
                    <a:bodyPr lIns="152400" tIns="123825" rIns="114300" bIns="95250">
                      <a:noAutofit/>
                    </a:bodyPr>
                    <a:lstStyle/>
                    <a:p>
                      <a:r>
                        <a:rPr sz="1950" b="0">
                          <a:solidFill>
                            <a:srgbClr val="222B38"/>
                          </a:solidFill>
                          <a:latin typeface="DejaVu Sans"/>
                          <a:ea typeface="DejaVu Sans"/>
                          <a:cs typeface="DejaVu Sans"/>
                        </a:rPr>
                        <a:t>HTTP JSON requests</a:t>
                      </a:r>
                    </a:p>
                  </a:txBody>
                  <a:tcPr marL="91440" marR="91440" marT="45720" marB="45720" anchor="ctr">
                    <a:lnR w="9525">
                      <a:solidFill>
                        <a:srgbClr val="D9DBE1"/>
                      </a:solidFill>
                      <a:prstDash val="solid"/>
                    </a:lnR>
                    <a:lnB w="9525">
                      <a:solidFill>
                        <a:srgbClr val="D9DBE1"/>
                      </a:solidFill>
                      <a:prstDash val="solid"/>
                    </a:lnB>
                    <a:solidFill>
                      <a:srgbClr val="FFFFFF"/>
                    </a:solidFill>
                  </a:tcPr>
                </a:tc>
              </a:tr>
              <a:tr h="685800">
                <a:tc>
                  <a:txBody>
                    <a:bodyPr lIns="152400" tIns="123825" rIns="114300" bIns="95250">
                      <a:noAutofit/>
                    </a:bodyPr>
                    <a:lstStyle/>
                    <a:p>
                      <a:r>
                        <a:rPr sz="1950" b="0">
                          <a:solidFill>
                            <a:srgbClr val="222B38"/>
                          </a:solidFill>
                          <a:latin typeface="DejaVu Sans"/>
                          <a:ea typeface="DejaVu Sans"/>
                          <a:cs typeface="DejaVu Sans"/>
                        </a:rPr>
                        <a:t>Bridge</a:t>
                      </a:r>
                    </a:p>
                  </a:txBody>
                  <a:tcPr marL="91440" marR="91440" marT="45720" marB="45720" anchor="ctr">
                    <a:lnL w="9525">
                      <a:solidFill>
                        <a:srgbClr val="D9DBE1"/>
                      </a:solidFill>
                      <a:prstDash val="solid"/>
                    </a:lnL>
                    <a:lnR w="9525">
                      <a:solidFill>
                        <a:srgbClr val="D9DBE1"/>
                      </a:solidFill>
                      <a:prstDash val="solid"/>
                    </a:lnR>
                    <a:lnB w="9525">
                      <a:solidFill>
                        <a:srgbClr val="D9DBE1"/>
                      </a:solidFill>
                      <a:prstDash val="solid"/>
                    </a:lnB>
                    <a:solidFill>
                      <a:srgbClr val="F1F0F6"/>
                    </a:solidFill>
                  </a:tcPr>
                </a:tc>
                <a:tc>
                  <a:txBody>
                    <a:bodyPr lIns="152400" tIns="123825" rIns="114300" bIns="95250">
                      <a:noAutofit/>
                    </a:bodyPr>
                    <a:lstStyle/>
                    <a:p>
                      <a:r>
                        <a:rPr sz="1950" b="0">
                          <a:solidFill>
                            <a:srgbClr val="222B38"/>
                          </a:solidFill>
                          <a:latin typeface="DejaVu Sans"/>
                          <a:ea typeface="DejaVu Sans"/>
                          <a:cs typeface="DejaVu Sans"/>
                        </a:rPr>
                        <a:t>Python standard library</a:t>
                      </a:r>
                    </a:p>
                  </a:txBody>
                  <a:tcPr marL="91440" marR="91440" marT="45720" marB="45720" anchor="ctr">
                    <a:lnR w="9525">
                      <a:solidFill>
                        <a:srgbClr val="D9DBE1"/>
                      </a:solidFill>
                      <a:prstDash val="solid"/>
                    </a:lnR>
                    <a:lnB w="9525">
                      <a:solidFill>
                        <a:srgbClr val="D9DBE1"/>
                      </a:solidFill>
                      <a:prstDash val="solid"/>
                    </a:lnB>
                    <a:solidFill>
                      <a:srgbClr val="F1F0F6"/>
                    </a:solidFill>
                  </a:tcPr>
                </a:tc>
                <a:tc>
                  <a:txBody>
                    <a:bodyPr lIns="152400" tIns="123825" rIns="114300" bIns="95250">
                      <a:noAutofit/>
                    </a:bodyPr>
                    <a:lstStyle/>
                    <a:p>
                      <a:r>
                        <a:rPr sz="1950" b="0">
                          <a:solidFill>
                            <a:srgbClr val="222B38"/>
                          </a:solidFill>
                          <a:latin typeface="DejaVu Sans"/>
                          <a:ea typeface="DejaVu Sans"/>
                          <a:cs typeface="DejaVu Sans"/>
                        </a:rPr>
                        <a:t>Peer stdin and stdout</a:t>
                      </a:r>
                    </a:p>
                  </a:txBody>
                  <a:tcPr marL="91440" marR="91440" marT="45720" marB="45720" anchor="ctr">
                    <a:lnR w="9525">
                      <a:solidFill>
                        <a:srgbClr val="D9DBE1"/>
                      </a:solidFill>
                      <a:prstDash val="solid"/>
                    </a:lnR>
                    <a:lnB w="9525">
                      <a:solidFill>
                        <a:srgbClr val="D9DBE1"/>
                      </a:solidFill>
                      <a:prstDash val="solid"/>
                    </a:lnB>
                    <a:solidFill>
                      <a:srgbClr val="F1F0F6"/>
                    </a:solidFill>
                  </a:tcPr>
                </a:tc>
              </a:tr>
              <a:tr h="685800">
                <a:tc>
                  <a:txBody>
                    <a:bodyPr lIns="152400" tIns="123825" rIns="114300" bIns="95250">
                      <a:noAutofit/>
                    </a:bodyPr>
                    <a:lstStyle/>
                    <a:p>
                      <a:r>
                        <a:rPr sz="1950" b="0">
                          <a:solidFill>
                            <a:srgbClr val="222B38"/>
                          </a:solidFill>
                          <a:latin typeface="DejaVu Sans"/>
                          <a:ea typeface="DejaVu Sans"/>
                          <a:cs typeface="DejaVu Sans"/>
                        </a:rPr>
                        <a:t>Chat endpoints</a:t>
                      </a:r>
                    </a:p>
                  </a:txBody>
                  <a:tcPr marL="91440" marR="91440" marT="45720" marB="45720" anchor="ctr">
                    <a:lnL w="9525">
                      <a:solidFill>
                        <a:srgbClr val="D9DBE1"/>
                      </a:solidFill>
                      <a:prstDash val="solid"/>
                    </a:lnL>
                    <a:lnR w="9525">
                      <a:solidFill>
                        <a:srgbClr val="D9DBE1"/>
                      </a:solidFill>
                      <a:prstDash val="solid"/>
                    </a:lnR>
                    <a:lnB w="9525">
                      <a:solidFill>
                        <a:srgbClr val="D9DBE1"/>
                      </a:solidFill>
                      <a:prstDash val="solid"/>
                    </a:lnB>
                    <a:solidFill>
                      <a:srgbClr val="FFFFFF"/>
                    </a:solidFill>
                  </a:tcPr>
                </a:tc>
                <a:tc>
                  <a:txBody>
                    <a:bodyPr lIns="152400" tIns="123825" rIns="114300" bIns="95250">
                      <a:noAutofit/>
                    </a:bodyPr>
                    <a:lstStyle/>
                    <a:p>
                      <a:r>
                        <a:rPr sz="1950" b="0">
                          <a:solidFill>
                            <a:srgbClr val="222B38"/>
                          </a:solidFill>
                          <a:latin typeface="DejaVu Sans"/>
                          <a:ea typeface="DejaVu Sans"/>
                          <a:cs typeface="DejaVu Sans"/>
                        </a:rPr>
                        <a:t>Independent C processes A and B</a:t>
                      </a:r>
                    </a:p>
                  </a:txBody>
                  <a:tcPr marL="91440" marR="91440" marT="45720" marB="45720" anchor="ctr">
                    <a:lnR w="9525">
                      <a:solidFill>
                        <a:srgbClr val="D9DBE1"/>
                      </a:solidFill>
                      <a:prstDash val="solid"/>
                    </a:lnR>
                    <a:lnB w="9525">
                      <a:solidFill>
                        <a:srgbClr val="D9DBE1"/>
                      </a:solidFill>
                      <a:prstDash val="solid"/>
                    </a:lnB>
                    <a:solidFill>
                      <a:srgbClr val="FFFFFF"/>
                    </a:solidFill>
                  </a:tcPr>
                </a:tc>
                <a:tc>
                  <a:txBody>
                    <a:bodyPr lIns="152400" tIns="123825" rIns="114300" bIns="95250">
                      <a:noAutofit/>
                    </a:bodyPr>
                    <a:lstStyle/>
                    <a:p>
                      <a:r>
                        <a:rPr sz="1950" b="0">
                          <a:solidFill>
                            <a:srgbClr val="222B38"/>
                          </a:solidFill>
                          <a:latin typeface="DejaVu Sans"/>
                          <a:ea typeface="DejaVu Sans"/>
                          <a:cs typeface="DejaVu Sans"/>
                        </a:rPr>
                        <a:t>Two named FIFOs</a:t>
                      </a:r>
                    </a:p>
                  </a:txBody>
                  <a:tcPr marL="91440" marR="91440" marT="45720" marB="45720" anchor="ctr">
                    <a:lnR w="9525">
                      <a:solidFill>
                        <a:srgbClr val="D9DBE1"/>
                      </a:solidFill>
                      <a:prstDash val="solid"/>
                    </a:lnR>
                    <a:lnB w="9525">
                      <a:solidFill>
                        <a:srgbClr val="D9DBE1"/>
                      </a:solidFill>
                      <a:prstDash val="solid"/>
                    </a:lnB>
                    <a:solidFill>
                      <a:srgbClr val="FFFFFF"/>
                    </a:solidFill>
                  </a:tcPr>
                </a:tc>
              </a:tr>
              <a:tr h="685800">
                <a:tc>
                  <a:txBody>
                    <a:bodyPr lIns="152400" tIns="123825" rIns="114300" bIns="95250">
                      <a:noAutofit/>
                    </a:bodyPr>
                    <a:lstStyle/>
                    <a:p>
                      <a:r>
                        <a:rPr sz="1950" b="0">
                          <a:solidFill>
                            <a:srgbClr val="222B38"/>
                          </a:solidFill>
                          <a:latin typeface="DejaVu Sans"/>
                          <a:ea typeface="DejaVu Sans"/>
                          <a:cs typeface="DejaVu Sans"/>
                        </a:rPr>
                        <a:t>Operating system</a:t>
                      </a:r>
                    </a:p>
                  </a:txBody>
                  <a:tcPr marL="91440" marR="91440" marT="45720" marB="45720" anchor="ctr">
                    <a:lnL w="9525">
                      <a:solidFill>
                        <a:srgbClr val="D9DBE1"/>
                      </a:solidFill>
                      <a:prstDash val="solid"/>
                    </a:lnL>
                    <a:lnR w="9525">
                      <a:solidFill>
                        <a:srgbClr val="D9DBE1"/>
                      </a:solidFill>
                      <a:prstDash val="solid"/>
                    </a:lnR>
                    <a:lnB w="9525">
                      <a:solidFill>
                        <a:srgbClr val="D9DBE1"/>
                      </a:solidFill>
                      <a:prstDash val="solid"/>
                    </a:lnB>
                    <a:solidFill>
                      <a:srgbClr val="F1F0F6"/>
                    </a:solidFill>
                  </a:tcPr>
                </a:tc>
                <a:tc>
                  <a:txBody>
                    <a:bodyPr lIns="152400" tIns="123825" rIns="114300" bIns="95250">
                      <a:noAutofit/>
                    </a:bodyPr>
                    <a:lstStyle/>
                    <a:p>
                      <a:r>
                        <a:rPr sz="1950" b="0">
                          <a:solidFill>
                            <a:srgbClr val="222B38"/>
                          </a:solidFill>
                          <a:latin typeface="DejaVu Sans"/>
                          <a:ea typeface="DejaVu Sans"/>
                          <a:cs typeface="DejaVu Sans"/>
                        </a:rPr>
                        <a:t>Linux kernel</a:t>
                      </a:r>
                    </a:p>
                  </a:txBody>
                  <a:tcPr marL="91440" marR="91440" marT="45720" marB="45720" anchor="ctr">
                    <a:lnR w="9525">
                      <a:solidFill>
                        <a:srgbClr val="D9DBE1"/>
                      </a:solidFill>
                      <a:prstDash val="solid"/>
                    </a:lnR>
                    <a:lnB w="9525">
                      <a:solidFill>
                        <a:srgbClr val="D9DBE1"/>
                      </a:solidFill>
                      <a:prstDash val="solid"/>
                    </a:lnB>
                    <a:solidFill>
                      <a:srgbClr val="F1F0F6"/>
                    </a:solidFill>
                  </a:tcPr>
                </a:tc>
                <a:tc>
                  <a:txBody>
                    <a:bodyPr lIns="152400" tIns="123825" rIns="114300" bIns="95250">
                      <a:noAutofit/>
                    </a:bodyPr>
                    <a:lstStyle/>
                    <a:p>
                      <a:r>
                        <a:rPr sz="1950" b="0">
                          <a:solidFill>
                            <a:srgbClr val="222B38"/>
                          </a:solidFill>
                          <a:latin typeface="DejaVu Sans"/>
                          <a:ea typeface="DejaVu Sans"/>
                          <a:cs typeface="DejaVu Sans"/>
                        </a:rPr>
                        <a:t>Descriptor and pipe I/O</a:t>
                      </a:r>
                    </a:p>
                  </a:txBody>
                  <a:tcPr marL="91440" marR="91440" marT="45720" marB="45720" anchor="ctr">
                    <a:lnR w="9525">
                      <a:solidFill>
                        <a:srgbClr val="D9DBE1"/>
                      </a:solidFill>
                      <a:prstDash val="solid"/>
                    </a:lnR>
                    <a:lnB w="9525">
                      <a:solidFill>
                        <a:srgbClr val="D9DBE1"/>
                      </a:solidFill>
                      <a:prstDash val="solid"/>
                    </a:lnB>
                    <a:solidFill>
                      <a:srgbClr val="F1F0F6"/>
                    </a:solidFill>
                  </a:tcPr>
                </a:tc>
              </a:tr>
            </a:tbl>
          </a:graphicData>
        </a:graphic>
      </p:graphicFrame>
      <p:sp>
        <p:nvSpPr>
          <p:cNvPr id="5" name="text-21">
            <a:extLst xmlns:a="http://schemas.openxmlformats.org/drawingml/2006/main">
              <a:ext uri="{FF2B5EF4-FFF2-40B4-BE49-F238E27FC236}">
                <a16:creationId xmlns:a16="http://schemas.microsoft.com/office/drawing/2014/main" id="{583090A7-202B-483B-A535-BF886C28D236}"/>
              </a:ext>
            </a:extLst>
          </p:cNvPr>
          <p:cNvSpPr>
            <a:spLocks xmlns:a="http://schemas.openxmlformats.org/drawingml/2006/main" noGrp="1"/>
          </p:cNvSpPr>
          <p:nvPr/>
        </p:nvSpPr>
        <p:spPr>
          <a:xfrm xmlns:a="http://schemas.openxmlformats.org/drawingml/2006/main">
            <a:off x="666750" y="5381625"/>
            <a:ext cx="106680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6756A7"/>
                </a:solidFill>
                <a:latin typeface="DejaVu Sans"/>
                <a:ea typeface="DejaVu Sans"/>
                <a:cs typeface="DejaVu Sans"/>
              </a:defRPr>
            </a:defPPr>
          </a:lstStyle>
          <a:p xmlns:a="http://schemas.openxmlformats.org/drawingml/2006/main">
            <a:pPr algn="l">
              <a:defRPr sz="2100" b="1">
                <a:solidFill>
                  <a:srgbClr val="6756A7"/>
                </a:solidFill>
                <a:latin typeface="DejaVu Sans"/>
                <a:ea typeface="DejaVu Sans"/>
                <a:cs typeface="DejaVu Sans"/>
              </a:defRPr>
            </a:pPr>
            <a:r>
              <a:rPr sz="2100" b="1">
                <a:solidFill>
                  <a:srgbClr val="6756A7"/>
                </a:solidFill>
                <a:latin typeface="DejaVu Sans"/>
                <a:ea typeface="DejaVu Sans"/>
                <a:cs typeface="DejaVu Sans"/>
              </a:rPr>
              <a:t>A sends through a_to_b.fifo. B replies through b_to_a.fifo.</a:t>
            </a:r>
          </a:p>
        </p:txBody>
      </p:sp>
    </p:spTree>
    <p:extLst>
      <p:ext uri="{BB962C8B-B14F-4D97-AF65-F5344CB8AC3E}">
        <p14:creationId xmlns:p14="http://schemas.microsoft.com/office/powerpoint/2010/main" val="382416469"/>
      </p:ext>
    </p:extLst>
  </p:cSld>
</p:sld>
</file>

<file path=ppt/slides/slide4.xml><?xml version="1.0" encoding="utf-8"?>
<p:sld xmlns:p="http://schemas.openxmlformats.org/presentationml/2006/main">
  <p:cSld>
    <p:bg>
      <p:bgPr>
        <a:solidFill xmlns:a="http://schemas.openxmlformats.org/drawingml/2006/main">
          <a:srgbClr val="FCFBF8"/>
        </a:solidFill>
      </p:bgPr>
    </p:bg>
    <p:spTree>
      <p:nvGrpSpPr>
        <p:cNvPr id="1" name=""/>
        <p:cNvGrpSpPr/>
        <p:nvPr/>
      </p:nvGrpSpPr>
      <p:grpSpPr>
        <a:xfrm xmlns:a="http://schemas.openxmlformats.org/drawingml/2006/main"/>
      </p:grpSpPr>
      <p:sp>
        <p:nvSpPr>
          <p:cNvPr id="6" name="text-22">
            <a:extLst xmlns:a="http://schemas.openxmlformats.org/drawingml/2006/main">
              <a:ext uri="{FF2B5EF4-FFF2-40B4-BE49-F238E27FC236}">
                <a16:creationId xmlns:a16="http://schemas.microsoft.com/office/drawing/2014/main" id="{16590025-B4AA-4497-8994-1F5692E1E8C4}"/>
              </a:ext>
            </a:extLst>
          </p:cNvPr>
          <p:cNvSpPr>
            <a:spLocks xmlns:a="http://schemas.openxmlformats.org/drawingml/2006/main" noGrp="1"/>
          </p:cNvSpPr>
          <p:nvPr/>
        </p:nvSpPr>
        <p:spPr>
          <a:xfrm xmlns:a="http://schemas.openxmlformats.org/drawingml/2006/main">
            <a:off x="628650" y="428625"/>
            <a:ext cx="10953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222B38"/>
                </a:solidFill>
                <a:latin typeface="DejaVu Sans"/>
                <a:ea typeface="DejaVu Sans"/>
                <a:cs typeface="DejaVu Sans"/>
              </a:defRPr>
            </a:defPPr>
          </a:lstStyle>
          <a:p xmlns:a="http://schemas.openxmlformats.org/drawingml/2006/main">
            <a:pPr algn="l">
              <a:defRPr sz="3300" b="1">
                <a:solidFill>
                  <a:srgbClr val="222B38"/>
                </a:solidFill>
                <a:latin typeface="DejaVu Sans"/>
                <a:ea typeface="DejaVu Sans"/>
                <a:cs typeface="DejaVu Sans"/>
              </a:defRPr>
            </a:pPr>
            <a:r>
              <a:rPr sz="3300" b="1">
                <a:solidFill>
                  <a:srgbClr val="222B38"/>
                </a:solidFill>
                <a:latin typeface="DejaVu Sans"/>
                <a:ea typeface="DejaVu Sans"/>
                <a:cs typeface="DejaVu Sans"/>
              </a:rPr>
              <a:t>Linux IPC Implementation</a:t>
            </a:r>
          </a:p>
        </p:txBody>
      </p:sp>
      <p:sp>
        <p:nvSpPr>
          <p:cNvPr id="2" name="text-23">
            <a:extLst xmlns:a="http://schemas.openxmlformats.org/drawingml/2006/main">
              <a:ext uri="{FF2B5EF4-FFF2-40B4-BE49-F238E27FC236}">
                <a16:creationId xmlns:a16="http://schemas.microsoft.com/office/drawing/2014/main" id="{E697A5FE-14C6-43C4-94E9-2E17DF22D7F5}"/>
              </a:ext>
            </a:extLst>
          </p:cNvPr>
          <p:cNvSpPr>
            <a:spLocks xmlns:a="http://schemas.openxmlformats.org/drawingml/2006/main" noGrp="1"/>
          </p:cNvSpPr>
          <p:nvPr/>
        </p:nvSpPr>
        <p:spPr>
          <a:xfrm xmlns:a="http://schemas.openxmlformats.org/drawingml/2006/main">
            <a:off x="628650" y="6477000"/>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0">
                <a:solidFill>
                  <a:srgbClr val="697383"/>
                </a:solidFill>
                <a:latin typeface="DejaVu Sans"/>
                <a:ea typeface="DejaVu Sans"/>
                <a:cs typeface="DejaVu Sans"/>
              </a:defRPr>
            </a:defPPr>
          </a:lstStyle>
          <a:p xmlns:a="http://schemas.openxmlformats.org/drawingml/2006/main">
            <a:pPr algn="l">
              <a:defRPr sz="1050" b="0">
                <a:solidFill>
                  <a:srgbClr val="697383"/>
                </a:solidFill>
                <a:latin typeface="DejaVu Sans"/>
                <a:ea typeface="DejaVu Sans"/>
                <a:cs typeface="DejaVu Sans"/>
              </a:defRPr>
            </a:pPr>
            <a:r>
              <a:rPr sz="1050" b="0">
                <a:solidFill>
                  <a:srgbClr val="697383"/>
                </a:solidFill>
                <a:latin typeface="DejaVu Sans"/>
                <a:ea typeface="DejaVu Sans"/>
                <a:cs typeface="DejaVu Sans"/>
              </a:rPr>
              <a:t>PipeTalk  /  OSSP Hackathon Team 8</a:t>
            </a:r>
          </a:p>
        </p:txBody>
      </p:sp>
      <p:sp>
        <p:nvSpPr>
          <p:cNvPr id="3" name="text-24">
            <a:extLst xmlns:a="http://schemas.openxmlformats.org/drawingml/2006/main">
              <a:ext uri="{FF2B5EF4-FFF2-40B4-BE49-F238E27FC236}">
                <a16:creationId xmlns:a16="http://schemas.microsoft.com/office/drawing/2014/main" id="{06A35BC8-C2B1-459E-8B0B-D103AA7C1061}"/>
              </a:ext>
            </a:extLst>
          </p:cNvPr>
          <p:cNvSpPr>
            <a:spLocks xmlns:a="http://schemas.openxmlformats.org/drawingml/2006/main" noGrp="1"/>
          </p:cNvSpPr>
          <p:nvPr/>
        </p:nvSpPr>
        <p:spPr>
          <a:xfrm xmlns:a="http://schemas.openxmlformats.org/drawingml/2006/main">
            <a:off x="11049000" y="647700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0">
                <a:solidFill>
                  <a:srgbClr val="697383"/>
                </a:solidFill>
                <a:latin typeface="DejaVu Sans"/>
                <a:ea typeface="DejaVu Sans"/>
                <a:cs typeface="DejaVu Sans"/>
              </a:defRPr>
            </a:defPPr>
          </a:lstStyle>
          <a:p xmlns:a="http://schemas.openxmlformats.org/drawingml/2006/main">
            <a:pPr algn="l">
              <a:defRPr sz="1050" b="0">
                <a:solidFill>
                  <a:srgbClr val="697383"/>
                </a:solidFill>
                <a:latin typeface="DejaVu Sans"/>
                <a:ea typeface="DejaVu Sans"/>
                <a:cs typeface="DejaVu Sans"/>
              </a:defRPr>
            </a:pPr>
            <a:r>
              <a:rPr sz="1050" b="0">
                <a:solidFill>
                  <a:srgbClr val="697383"/>
                </a:solidFill>
                <a:latin typeface="DejaVu Sans"/>
                <a:ea typeface="DejaVu Sans"/>
                <a:cs typeface="DejaVu Sans"/>
              </a:rPr>
              <a:t>04</a:t>
            </a:r>
          </a:p>
        </p:txBody>
      </p:sp>
      <p:graphicFrame>
        <p:nvGraphicFramePr>
          <p:cNvPr id="4" name="">
            <a:extLst xmlns:a="http://schemas.openxmlformats.org/drawingml/2006/main">
              <a:ext uri="{FF2B5EF4-FFF2-40B4-BE49-F238E27FC236}">
                <a16:creationId xmlns:a16="http://schemas.microsoft.com/office/drawing/2014/main" id="{D9AFE811-766D-4376-9CA0-C836388A9866}"/>
              </a:ext>
            </a:extLst>
          </p:cNvPr>
          <p:cNvGraphicFramePr/>
          <p:nvPr/>
        </p:nvGraphicFramePr>
        <p:xfrm>
          <a:off xmlns:a="http://schemas.openxmlformats.org/drawingml/2006/main" x="628650" y="1476375"/>
          <a:ext xmlns:a="http://schemas.openxmlformats.org/drawingml/2006/main" cx="10934700" cy="3857625"/>
        </p:xfrm>
        <a:graphic xmlns:a="http://schemas.openxmlformats.org/drawingml/2006/main">
          <a:graphicData uri="http://schemas.openxmlformats.org/drawingml/2006/table">
            <a:tbl>
              <a:tblPr/>
              <a:tblGrid>
                <a:gridCol w="3048000"/>
                <a:gridCol w="7886700"/>
              </a:tblGrid>
              <a:tr h="642938">
                <a:tc>
                  <a:txBody>
                    <a:bodyPr lIns="152400" tIns="123825" rIns="114300" bIns="95250">
                      <a:noAutofit/>
                    </a:bodyPr>
                    <a:lstStyle/>
                    <a:p>
                      <a:r>
                        <a:rPr sz="1950" b="1">
                          <a:solidFill>
                            <a:srgbClr val="FFFFFF"/>
                          </a:solidFill>
                          <a:latin typeface="DejaVu Sans"/>
                          <a:ea typeface="DejaVu Sans"/>
                          <a:cs typeface="DejaVu Sans"/>
                        </a:rPr>
                        <a:t>Operation</a:t>
                      </a:r>
                    </a:p>
                  </a:txBody>
                  <a:tcPr marL="91440" marR="91440" marT="45720" marB="45720" anchor="ctr">
                    <a:lnL w="9525">
                      <a:solidFill>
                        <a:srgbClr val="D9DBE1"/>
                      </a:solidFill>
                      <a:prstDash val="solid"/>
                    </a:lnL>
                    <a:lnR w="9525">
                      <a:solidFill>
                        <a:srgbClr val="D9DBE1"/>
                      </a:solidFill>
                      <a:prstDash val="solid"/>
                    </a:lnR>
                    <a:lnT w="9525">
                      <a:solidFill>
                        <a:srgbClr val="D9DBE1"/>
                      </a:solidFill>
                      <a:prstDash val="solid"/>
                    </a:lnT>
                    <a:lnB w="9525">
                      <a:solidFill>
                        <a:srgbClr val="D9DBE1"/>
                      </a:solidFill>
                      <a:prstDash val="solid"/>
                    </a:lnB>
                    <a:solidFill>
                      <a:srgbClr val="333B4B"/>
                    </a:solidFill>
                  </a:tcPr>
                </a:tc>
                <a:tc>
                  <a:txBody>
                    <a:bodyPr lIns="152400" tIns="123825" rIns="114300" bIns="95250">
                      <a:noAutofit/>
                    </a:bodyPr>
                    <a:lstStyle/>
                    <a:p>
                      <a:r>
                        <a:rPr sz="1950" b="1">
                          <a:solidFill>
                            <a:srgbClr val="FFFFFF"/>
                          </a:solidFill>
                          <a:latin typeface="DejaVu Sans"/>
                          <a:ea typeface="DejaVu Sans"/>
                          <a:cs typeface="DejaVu Sans"/>
                        </a:rPr>
                        <a:t>Purpose</a:t>
                      </a:r>
                    </a:p>
                  </a:txBody>
                  <a:tcPr marL="91440" marR="91440" marT="45720" marB="45720" anchor="ctr">
                    <a:lnR w="9525">
                      <a:solidFill>
                        <a:srgbClr val="D9DBE1"/>
                      </a:solidFill>
                      <a:prstDash val="solid"/>
                    </a:lnR>
                    <a:lnT w="9525">
                      <a:solidFill>
                        <a:srgbClr val="D9DBE1"/>
                      </a:solidFill>
                      <a:prstDash val="solid"/>
                    </a:lnT>
                    <a:lnB w="9525">
                      <a:solidFill>
                        <a:srgbClr val="D9DBE1"/>
                      </a:solidFill>
                      <a:prstDash val="solid"/>
                    </a:lnB>
                    <a:solidFill>
                      <a:srgbClr val="333B4B"/>
                    </a:solidFill>
                  </a:tcPr>
                </a:tc>
              </a:tr>
              <a:tr h="642938">
                <a:tc>
                  <a:txBody>
                    <a:bodyPr lIns="152400" tIns="123825" rIns="114300" bIns="95250">
                      <a:noAutofit/>
                    </a:bodyPr>
                    <a:lstStyle/>
                    <a:p>
                      <a:r>
                        <a:rPr sz="1950" b="0">
                          <a:solidFill>
                            <a:srgbClr val="222B38"/>
                          </a:solidFill>
                          <a:latin typeface="DejaVu Sans"/>
                          <a:ea typeface="DejaVu Sans"/>
                          <a:cs typeface="DejaVu Sans"/>
                        </a:rPr>
                        <a:t>os.mkfifo()</a:t>
                      </a:r>
                    </a:p>
                  </a:txBody>
                  <a:tcPr marL="91440" marR="91440" marT="45720" marB="45720" anchor="ctr">
                    <a:lnL w="9525">
                      <a:solidFill>
                        <a:srgbClr val="D9DBE1"/>
                      </a:solidFill>
                      <a:prstDash val="solid"/>
                    </a:lnL>
                    <a:lnR w="9525">
                      <a:solidFill>
                        <a:srgbClr val="D9DBE1"/>
                      </a:solidFill>
                      <a:prstDash val="solid"/>
                    </a:lnR>
                    <a:lnB w="9525">
                      <a:solidFill>
                        <a:srgbClr val="D9DBE1"/>
                      </a:solidFill>
                      <a:prstDash val="solid"/>
                    </a:lnB>
                    <a:solidFill>
                      <a:srgbClr val="FFFFFF"/>
                    </a:solidFill>
                  </a:tcPr>
                </a:tc>
                <a:tc>
                  <a:txBody>
                    <a:bodyPr lIns="152400" tIns="123825" rIns="114300" bIns="95250">
                      <a:noAutofit/>
                    </a:bodyPr>
                    <a:lstStyle/>
                    <a:p>
                      <a:r>
                        <a:rPr sz="1950" b="0">
                          <a:solidFill>
                            <a:srgbClr val="222B38"/>
                          </a:solidFill>
                          <a:latin typeface="DejaVu Sans"/>
                          <a:ea typeface="DejaVu Sans"/>
                          <a:cs typeface="DejaVu Sans"/>
                        </a:rPr>
                        <a:t>Create two named FIFO special files</a:t>
                      </a:r>
                    </a:p>
                  </a:txBody>
                  <a:tcPr marL="91440" marR="91440" marT="45720" marB="45720" anchor="ctr">
                    <a:lnR w="9525">
                      <a:solidFill>
                        <a:srgbClr val="D9DBE1"/>
                      </a:solidFill>
                      <a:prstDash val="solid"/>
                    </a:lnR>
                    <a:lnB w="9525">
                      <a:solidFill>
                        <a:srgbClr val="D9DBE1"/>
                      </a:solidFill>
                      <a:prstDash val="solid"/>
                    </a:lnB>
                    <a:solidFill>
                      <a:srgbClr val="FFFFFF"/>
                    </a:solidFill>
                  </a:tcPr>
                </a:tc>
              </a:tr>
              <a:tr h="642938">
                <a:tc>
                  <a:txBody>
                    <a:bodyPr lIns="152400" tIns="123825" rIns="114300" bIns="95250">
                      <a:noAutofit/>
                    </a:bodyPr>
                    <a:lstStyle/>
                    <a:p>
                      <a:r>
                        <a:rPr sz="1950" b="0">
                          <a:solidFill>
                            <a:srgbClr val="222B38"/>
                          </a:solidFill>
                          <a:latin typeface="DejaVu Sans"/>
                          <a:ea typeface="DejaVu Sans"/>
                          <a:cs typeface="DejaVu Sans"/>
                        </a:rPr>
                        <a:t>open()</a:t>
                      </a:r>
                    </a:p>
                  </a:txBody>
                  <a:tcPr marL="91440" marR="91440" marT="45720" marB="45720" anchor="ctr">
                    <a:lnL w="9525">
                      <a:solidFill>
                        <a:srgbClr val="D9DBE1"/>
                      </a:solidFill>
                      <a:prstDash val="solid"/>
                    </a:lnL>
                    <a:lnR w="9525">
                      <a:solidFill>
                        <a:srgbClr val="D9DBE1"/>
                      </a:solidFill>
                      <a:prstDash val="solid"/>
                    </a:lnR>
                    <a:lnB w="9525">
                      <a:solidFill>
                        <a:srgbClr val="D9DBE1"/>
                      </a:solidFill>
                      <a:prstDash val="solid"/>
                    </a:lnB>
                    <a:solidFill>
                      <a:srgbClr val="F1F0F6"/>
                    </a:solidFill>
                  </a:tcPr>
                </a:tc>
                <a:tc>
                  <a:txBody>
                    <a:bodyPr lIns="152400" tIns="123825" rIns="114300" bIns="95250">
                      <a:noAutofit/>
                    </a:bodyPr>
                    <a:lstStyle/>
                    <a:p>
                      <a:r>
                        <a:rPr sz="1950" b="0">
                          <a:solidFill>
                            <a:srgbClr val="222B38"/>
                          </a:solidFill>
                          <a:latin typeface="DejaVu Sans"/>
                          <a:ea typeface="DejaVu Sans"/>
                          <a:cs typeface="DejaVu Sans"/>
                        </a:rPr>
                        <a:t>Open incoming and outgoing channels</a:t>
                      </a:r>
                    </a:p>
                  </a:txBody>
                  <a:tcPr marL="91440" marR="91440" marT="45720" marB="45720" anchor="ctr">
                    <a:lnR w="9525">
                      <a:solidFill>
                        <a:srgbClr val="D9DBE1"/>
                      </a:solidFill>
                      <a:prstDash val="solid"/>
                    </a:lnR>
                    <a:lnB w="9525">
                      <a:solidFill>
                        <a:srgbClr val="D9DBE1"/>
                      </a:solidFill>
                      <a:prstDash val="solid"/>
                    </a:lnB>
                    <a:solidFill>
                      <a:srgbClr val="F1F0F6"/>
                    </a:solidFill>
                  </a:tcPr>
                </a:tc>
              </a:tr>
              <a:tr h="642938">
                <a:tc>
                  <a:txBody>
                    <a:bodyPr lIns="152400" tIns="123825" rIns="114300" bIns="95250">
                      <a:noAutofit/>
                    </a:bodyPr>
                    <a:lstStyle/>
                    <a:p>
                      <a:r>
                        <a:rPr sz="1950" b="0">
                          <a:solidFill>
                            <a:srgbClr val="222B38"/>
                          </a:solidFill>
                          <a:latin typeface="DejaVu Sans"/>
                          <a:ea typeface="DejaVu Sans"/>
                          <a:cs typeface="DejaVu Sans"/>
                        </a:rPr>
                        <a:t>poll()</a:t>
                      </a:r>
                    </a:p>
                  </a:txBody>
                  <a:tcPr marL="91440" marR="91440" marT="45720" marB="45720" anchor="ctr">
                    <a:lnL w="9525">
                      <a:solidFill>
                        <a:srgbClr val="D9DBE1"/>
                      </a:solidFill>
                      <a:prstDash val="solid"/>
                    </a:lnL>
                    <a:lnR w="9525">
                      <a:solidFill>
                        <a:srgbClr val="D9DBE1"/>
                      </a:solidFill>
                      <a:prstDash val="solid"/>
                    </a:lnR>
                    <a:lnB w="9525">
                      <a:solidFill>
                        <a:srgbClr val="D9DBE1"/>
                      </a:solidFill>
                      <a:prstDash val="solid"/>
                    </a:lnB>
                    <a:solidFill>
                      <a:srgbClr val="FFFFFF"/>
                    </a:solidFill>
                  </a:tcPr>
                </a:tc>
                <a:tc>
                  <a:txBody>
                    <a:bodyPr lIns="152400" tIns="123825" rIns="114300" bIns="95250">
                      <a:noAutofit/>
                    </a:bodyPr>
                    <a:lstStyle/>
                    <a:p>
                      <a:r>
                        <a:rPr sz="1950" b="0">
                          <a:solidFill>
                            <a:srgbClr val="222B38"/>
                          </a:solidFill>
                          <a:latin typeface="DejaVu Sans"/>
                          <a:ea typeface="DejaVu Sans"/>
                          <a:cs typeface="DejaVu Sans"/>
                        </a:rPr>
                        <a:t>Wait for commands or incoming data</a:t>
                      </a:r>
                    </a:p>
                  </a:txBody>
                  <a:tcPr marL="91440" marR="91440" marT="45720" marB="45720" anchor="ctr">
                    <a:lnR w="9525">
                      <a:solidFill>
                        <a:srgbClr val="D9DBE1"/>
                      </a:solidFill>
                      <a:prstDash val="solid"/>
                    </a:lnR>
                    <a:lnB w="9525">
                      <a:solidFill>
                        <a:srgbClr val="D9DBE1"/>
                      </a:solidFill>
                      <a:prstDash val="solid"/>
                    </a:lnB>
                    <a:solidFill>
                      <a:srgbClr val="FFFFFF"/>
                    </a:solidFill>
                  </a:tcPr>
                </a:tc>
              </a:tr>
              <a:tr h="642938">
                <a:tc>
                  <a:txBody>
                    <a:bodyPr lIns="152400" tIns="123825" rIns="114300" bIns="95250">
                      <a:noAutofit/>
                    </a:bodyPr>
                    <a:lstStyle/>
                    <a:p>
                      <a:r>
                        <a:rPr sz="1950" b="0">
                          <a:solidFill>
                            <a:srgbClr val="222B38"/>
                          </a:solidFill>
                          <a:latin typeface="DejaVu Sans"/>
                          <a:ea typeface="DejaVu Sans"/>
                          <a:cs typeface="DejaVu Sans"/>
                        </a:rPr>
                        <a:t>write() and read()</a:t>
                      </a:r>
                    </a:p>
                  </a:txBody>
                  <a:tcPr marL="91440" marR="91440" marT="45720" marB="45720" anchor="ctr">
                    <a:lnL w="9525">
                      <a:solidFill>
                        <a:srgbClr val="D9DBE1"/>
                      </a:solidFill>
                      <a:prstDash val="solid"/>
                    </a:lnL>
                    <a:lnR w="9525">
                      <a:solidFill>
                        <a:srgbClr val="D9DBE1"/>
                      </a:solidFill>
                      <a:prstDash val="solid"/>
                    </a:lnR>
                    <a:lnB w="9525">
                      <a:solidFill>
                        <a:srgbClr val="D9DBE1"/>
                      </a:solidFill>
                      <a:prstDash val="solid"/>
                    </a:lnB>
                    <a:solidFill>
                      <a:srgbClr val="F1F0F6"/>
                    </a:solidFill>
                  </a:tcPr>
                </a:tc>
                <a:tc>
                  <a:txBody>
                    <a:bodyPr lIns="152400" tIns="123825" rIns="114300" bIns="95250">
                      <a:noAutofit/>
                    </a:bodyPr>
                    <a:lstStyle/>
                    <a:p>
                      <a:r>
                        <a:rPr sz="1950" b="0">
                          <a:solidFill>
                            <a:srgbClr val="222B38"/>
                          </a:solidFill>
                          <a:latin typeface="DejaVu Sans"/>
                          <a:ea typeface="DejaVu Sans"/>
                          <a:cs typeface="DejaVu Sans"/>
                        </a:rPr>
                        <a:t>Transfer JSON frames between peers</a:t>
                      </a:r>
                    </a:p>
                  </a:txBody>
                  <a:tcPr marL="91440" marR="91440" marT="45720" marB="45720" anchor="ctr">
                    <a:lnR w="9525">
                      <a:solidFill>
                        <a:srgbClr val="D9DBE1"/>
                      </a:solidFill>
                      <a:prstDash val="solid"/>
                    </a:lnR>
                    <a:lnB w="9525">
                      <a:solidFill>
                        <a:srgbClr val="D9DBE1"/>
                      </a:solidFill>
                      <a:prstDash val="solid"/>
                    </a:lnB>
                    <a:solidFill>
                      <a:srgbClr val="F1F0F6"/>
                    </a:solidFill>
                  </a:tcPr>
                </a:tc>
              </a:tr>
              <a:tr h="642938">
                <a:tc>
                  <a:txBody>
                    <a:bodyPr lIns="152400" tIns="123825" rIns="114300" bIns="95250">
                      <a:noAutofit/>
                    </a:bodyPr>
                    <a:lstStyle/>
                    <a:p>
                      <a:r>
                        <a:rPr sz="1950" b="0">
                          <a:solidFill>
                            <a:srgbClr val="222B38"/>
                          </a:solidFill>
                          <a:latin typeface="DejaVu Sans"/>
                          <a:ea typeface="DejaVu Sans"/>
                          <a:cs typeface="DejaVu Sans"/>
                        </a:rPr>
                        <a:t>close() and SIGTERM</a:t>
                      </a:r>
                    </a:p>
                  </a:txBody>
                  <a:tcPr marL="91440" marR="91440" marT="45720" marB="45720" anchor="ctr">
                    <a:lnL w="9525">
                      <a:solidFill>
                        <a:srgbClr val="D9DBE1"/>
                      </a:solidFill>
                      <a:prstDash val="solid"/>
                    </a:lnL>
                    <a:lnR w="9525">
                      <a:solidFill>
                        <a:srgbClr val="D9DBE1"/>
                      </a:solidFill>
                      <a:prstDash val="solid"/>
                    </a:lnR>
                    <a:lnB w="9525">
                      <a:solidFill>
                        <a:srgbClr val="D9DBE1"/>
                      </a:solidFill>
                      <a:prstDash val="solid"/>
                    </a:lnB>
                    <a:solidFill>
                      <a:srgbClr val="FFFFFF"/>
                    </a:solidFill>
                  </a:tcPr>
                </a:tc>
                <a:tc>
                  <a:txBody>
                    <a:bodyPr lIns="152400" tIns="123825" rIns="114300" bIns="95250">
                      <a:noAutofit/>
                    </a:bodyPr>
                    <a:lstStyle/>
                    <a:p>
                      <a:r>
                        <a:rPr sz="1950" b="0">
                          <a:solidFill>
                            <a:srgbClr val="222B38"/>
                          </a:solidFill>
                          <a:latin typeface="DejaVu Sans"/>
                          <a:ea typeface="DejaVu Sans"/>
                          <a:cs typeface="DejaVu Sans"/>
                        </a:rPr>
                        <a:t>Release descriptors and stop peers</a:t>
                      </a:r>
                    </a:p>
                  </a:txBody>
                  <a:tcPr marL="91440" marR="91440" marT="45720" marB="45720" anchor="ctr">
                    <a:lnR w="9525">
                      <a:solidFill>
                        <a:srgbClr val="D9DBE1"/>
                      </a:solidFill>
                      <a:prstDash val="solid"/>
                    </a:lnR>
                    <a:lnB w="9525">
                      <a:solidFill>
                        <a:srgbClr val="D9DBE1"/>
                      </a:solidFill>
                      <a:prstDash val="solid"/>
                    </a:lnB>
                    <a:solidFill>
                      <a:srgbClr val="FFFFFF"/>
                    </a:solidFill>
                  </a:tcPr>
                </a:tc>
              </a:tr>
            </a:tbl>
          </a:graphicData>
        </a:graphic>
      </p:graphicFrame>
      <p:sp>
        <p:nvSpPr>
          <p:cNvPr id="5" name="text-25">
            <a:extLst xmlns:a="http://schemas.openxmlformats.org/drawingml/2006/main">
              <a:ext uri="{FF2B5EF4-FFF2-40B4-BE49-F238E27FC236}">
                <a16:creationId xmlns:a16="http://schemas.microsoft.com/office/drawing/2014/main" id="{D4A3F384-8AE1-494A-A8C2-C550A13136C0}"/>
              </a:ext>
            </a:extLst>
          </p:cNvPr>
          <p:cNvSpPr>
            <a:spLocks xmlns:a="http://schemas.openxmlformats.org/drawingml/2006/main" noGrp="1"/>
          </p:cNvSpPr>
          <p:nvPr/>
        </p:nvSpPr>
        <p:spPr>
          <a:xfrm xmlns:a="http://schemas.openxmlformats.org/drawingml/2006/main">
            <a:off x="666750" y="5667375"/>
            <a:ext cx="10668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6756A7"/>
                </a:solidFill>
                <a:latin typeface="DejaVu Sans"/>
                <a:ea typeface="DejaVu Sans"/>
                <a:cs typeface="DejaVu Sans"/>
              </a:defRPr>
            </a:defPPr>
          </a:lstStyle>
          <a:p xmlns:a="http://schemas.openxmlformats.org/drawingml/2006/main">
            <a:pPr algn="l">
              <a:defRPr sz="2100" b="1">
                <a:solidFill>
                  <a:srgbClr val="6756A7"/>
                </a:solidFill>
                <a:latin typeface="DejaVu Sans"/>
                <a:ea typeface="DejaVu Sans"/>
                <a:cs typeface="DejaVu Sans"/>
              </a:defRPr>
            </a:pPr>
            <a:r>
              <a:rPr sz="2100" b="1">
                <a:solidFill>
                  <a:srgbClr val="6756A7"/>
                </a:solidFill>
                <a:latin typeface="DejaVu Sans"/>
                <a:ea typeface="DejaVu Sans"/>
                <a:cs typeface="DejaVu Sans"/>
              </a:rPr>
              <a:t>Each peer has its own PID and address space.</a:t>
            </a:r>
          </a:p>
        </p:txBody>
      </p:sp>
    </p:spTree>
    <p:extLst>
      <p:ext uri="{BB962C8B-B14F-4D97-AF65-F5344CB8AC3E}">
        <p14:creationId xmlns:p14="http://schemas.microsoft.com/office/powerpoint/2010/main" val="1661217549"/>
      </p:ext>
    </p:extLst>
  </p:cSld>
</p:sld>
</file>

<file path=ppt/slides/slide5.xml><?xml version="1.0" encoding="utf-8"?>
<p:sld xmlns:p="http://schemas.openxmlformats.org/presentationml/2006/main">
  <p:cSld>
    <p:bg>
      <p:bgPr>
        <a:solidFill xmlns:a="http://schemas.openxmlformats.org/drawingml/2006/main">
          <a:srgbClr val="FCFBF8"/>
        </a:solidFill>
      </p:bgPr>
    </p:bg>
    <p:spTree>
      <p:nvGrpSpPr>
        <p:cNvPr id="1" name=""/>
        <p:cNvGrpSpPr/>
        <p:nvPr/>
      </p:nvGrpSpPr>
      <p:grpSpPr>
        <a:xfrm xmlns:a="http://schemas.openxmlformats.org/drawingml/2006/main"/>
      </p:grpSpPr>
      <p:sp>
        <p:nvSpPr>
          <p:cNvPr id="16" name="text-26">
            <a:extLst xmlns:a="http://schemas.openxmlformats.org/drawingml/2006/main">
              <a:ext uri="{FF2B5EF4-FFF2-40B4-BE49-F238E27FC236}">
                <a16:creationId xmlns:a16="http://schemas.microsoft.com/office/drawing/2014/main" id="{9139904E-3B1E-4FFE-81BE-3EA433F7D1B4}"/>
              </a:ext>
            </a:extLst>
          </p:cNvPr>
          <p:cNvSpPr>
            <a:spLocks xmlns:a="http://schemas.openxmlformats.org/drawingml/2006/main" noGrp="1"/>
          </p:cNvSpPr>
          <p:nvPr/>
        </p:nvSpPr>
        <p:spPr>
          <a:xfrm xmlns:a="http://schemas.openxmlformats.org/drawingml/2006/main">
            <a:off x="628650" y="428625"/>
            <a:ext cx="10953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222B38"/>
                </a:solidFill>
                <a:latin typeface="DejaVu Sans"/>
                <a:ea typeface="DejaVu Sans"/>
                <a:cs typeface="DejaVu Sans"/>
              </a:defRPr>
            </a:defPPr>
          </a:lstStyle>
          <a:p xmlns:a="http://schemas.openxmlformats.org/drawingml/2006/main">
            <a:pPr algn="l">
              <a:defRPr sz="3300" b="1">
                <a:solidFill>
                  <a:srgbClr val="222B38"/>
                </a:solidFill>
                <a:latin typeface="DejaVu Sans"/>
                <a:ea typeface="DejaVu Sans"/>
                <a:cs typeface="DejaVu Sans"/>
              </a:defRPr>
            </a:pPr>
            <a:r>
              <a:rPr sz="3300" b="1">
                <a:solidFill>
                  <a:srgbClr val="222B38"/>
                </a:solidFill>
                <a:latin typeface="DejaVu Sans"/>
                <a:ea typeface="DejaVu Sans"/>
                <a:cs typeface="DejaVu Sans"/>
              </a:rPr>
              <a:t>Message Delivery Lifecycle</a:t>
            </a:r>
          </a:p>
        </p:txBody>
      </p:sp>
      <p:sp>
        <p:nvSpPr>
          <p:cNvPr id="2" name="text-27">
            <a:extLst xmlns:a="http://schemas.openxmlformats.org/drawingml/2006/main">
              <a:ext uri="{FF2B5EF4-FFF2-40B4-BE49-F238E27FC236}">
                <a16:creationId xmlns:a16="http://schemas.microsoft.com/office/drawing/2014/main" id="{5702D606-530A-49BA-9CFD-C102C9034647}"/>
              </a:ext>
            </a:extLst>
          </p:cNvPr>
          <p:cNvSpPr>
            <a:spLocks xmlns:a="http://schemas.openxmlformats.org/drawingml/2006/main" noGrp="1"/>
          </p:cNvSpPr>
          <p:nvPr/>
        </p:nvSpPr>
        <p:spPr>
          <a:xfrm xmlns:a="http://schemas.openxmlformats.org/drawingml/2006/main">
            <a:off x="628650" y="6477000"/>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0">
                <a:solidFill>
                  <a:srgbClr val="697383"/>
                </a:solidFill>
                <a:latin typeface="DejaVu Sans"/>
                <a:ea typeface="DejaVu Sans"/>
                <a:cs typeface="DejaVu Sans"/>
              </a:defRPr>
            </a:defPPr>
          </a:lstStyle>
          <a:p xmlns:a="http://schemas.openxmlformats.org/drawingml/2006/main">
            <a:pPr algn="l">
              <a:defRPr sz="1050" b="0">
                <a:solidFill>
                  <a:srgbClr val="697383"/>
                </a:solidFill>
                <a:latin typeface="DejaVu Sans"/>
                <a:ea typeface="DejaVu Sans"/>
                <a:cs typeface="DejaVu Sans"/>
              </a:defRPr>
            </a:pPr>
            <a:r>
              <a:rPr sz="1050" b="0">
                <a:solidFill>
                  <a:srgbClr val="697383"/>
                </a:solidFill>
                <a:latin typeface="DejaVu Sans"/>
                <a:ea typeface="DejaVu Sans"/>
                <a:cs typeface="DejaVu Sans"/>
              </a:rPr>
              <a:t>PipeTalk  /  OSSP Hackathon Team 8</a:t>
            </a:r>
          </a:p>
        </p:txBody>
      </p:sp>
      <p:sp>
        <p:nvSpPr>
          <p:cNvPr id="3" name="text-28">
            <a:extLst xmlns:a="http://schemas.openxmlformats.org/drawingml/2006/main">
              <a:ext uri="{FF2B5EF4-FFF2-40B4-BE49-F238E27FC236}">
                <a16:creationId xmlns:a16="http://schemas.microsoft.com/office/drawing/2014/main" id="{0DF88B98-6870-4539-BF32-E09BC332E65E}"/>
              </a:ext>
            </a:extLst>
          </p:cNvPr>
          <p:cNvSpPr>
            <a:spLocks xmlns:a="http://schemas.openxmlformats.org/drawingml/2006/main" noGrp="1"/>
          </p:cNvSpPr>
          <p:nvPr/>
        </p:nvSpPr>
        <p:spPr>
          <a:xfrm xmlns:a="http://schemas.openxmlformats.org/drawingml/2006/main">
            <a:off x="11049000" y="647700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0">
                <a:solidFill>
                  <a:srgbClr val="697383"/>
                </a:solidFill>
                <a:latin typeface="DejaVu Sans"/>
                <a:ea typeface="DejaVu Sans"/>
                <a:cs typeface="DejaVu Sans"/>
              </a:defRPr>
            </a:defPPr>
          </a:lstStyle>
          <a:p xmlns:a="http://schemas.openxmlformats.org/drawingml/2006/main">
            <a:pPr algn="l">
              <a:defRPr sz="1050" b="0">
                <a:solidFill>
                  <a:srgbClr val="697383"/>
                </a:solidFill>
                <a:latin typeface="DejaVu Sans"/>
                <a:ea typeface="DejaVu Sans"/>
                <a:cs typeface="DejaVu Sans"/>
              </a:defRPr>
            </a:pPr>
            <a:r>
              <a:rPr sz="1050" b="0">
                <a:solidFill>
                  <a:srgbClr val="697383"/>
                </a:solidFill>
                <a:latin typeface="DejaVu Sans"/>
                <a:ea typeface="DejaVu Sans"/>
                <a:cs typeface="DejaVu Sans"/>
              </a:rPr>
              <a:t>05</a:t>
            </a:r>
          </a:p>
        </p:txBody>
      </p:sp>
      <p:sp>
        <p:nvSpPr>
          <p:cNvPr id="4" name="text-29">
            <a:extLst xmlns:a="http://schemas.openxmlformats.org/drawingml/2006/main">
              <a:ext uri="{FF2B5EF4-FFF2-40B4-BE49-F238E27FC236}">
                <a16:creationId xmlns:a16="http://schemas.microsoft.com/office/drawing/2014/main" id="{6906E5A8-BA28-4C5D-8209-2F5C76192EFC}"/>
              </a:ext>
            </a:extLst>
          </p:cNvPr>
          <p:cNvSpPr>
            <a:spLocks xmlns:a="http://schemas.openxmlformats.org/drawingml/2006/main" noGrp="1"/>
          </p:cNvSpPr>
          <p:nvPr/>
        </p:nvSpPr>
        <p:spPr>
          <a:xfrm xmlns:a="http://schemas.openxmlformats.org/drawingml/2006/main">
            <a:off x="666750" y="1476375"/>
            <a:ext cx="571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000" b="1">
                <a:solidFill>
                  <a:srgbClr val="6756A7"/>
                </a:solidFill>
                <a:latin typeface="DejaVu Sans"/>
                <a:ea typeface="DejaVu Sans"/>
                <a:cs typeface="DejaVu Sans"/>
              </a:defRPr>
            </a:defPPr>
          </a:lstStyle>
          <a:p xmlns:a="http://schemas.openxmlformats.org/drawingml/2006/main">
            <a:pPr algn="l">
              <a:defRPr sz="3000" b="1">
                <a:solidFill>
                  <a:srgbClr val="6756A7"/>
                </a:solidFill>
                <a:latin typeface="DejaVu Sans"/>
                <a:ea typeface="DejaVu Sans"/>
                <a:cs typeface="DejaVu Sans"/>
              </a:defRPr>
            </a:pPr>
            <a:r>
              <a:rPr sz="3000" b="1">
                <a:solidFill>
                  <a:srgbClr val="6756A7"/>
                </a:solidFill>
                <a:latin typeface="DejaVu Sans"/>
                <a:ea typeface="DejaVu Sans"/>
                <a:cs typeface="DejaVu Sans"/>
              </a:rPr>
              <a:t>01</a:t>
            </a:r>
          </a:p>
        </p:txBody>
      </p:sp>
      <p:sp>
        <p:nvSpPr>
          <p:cNvPr id="5" name="text-30">
            <a:extLst xmlns:a="http://schemas.openxmlformats.org/drawingml/2006/main">
              <a:ext uri="{FF2B5EF4-FFF2-40B4-BE49-F238E27FC236}">
                <a16:creationId xmlns:a16="http://schemas.microsoft.com/office/drawing/2014/main" id="{97F1BE06-9336-46CA-B4B6-F59454181FBE}"/>
              </a:ext>
            </a:extLst>
          </p:cNvPr>
          <p:cNvSpPr>
            <a:spLocks xmlns:a="http://schemas.openxmlformats.org/drawingml/2006/main" noGrp="1"/>
          </p:cNvSpPr>
          <p:nvPr/>
        </p:nvSpPr>
        <p:spPr>
          <a:xfrm xmlns:a="http://schemas.openxmlformats.org/drawingml/2006/main">
            <a:off x="1476375" y="1476375"/>
            <a:ext cx="9810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1">
                <a:solidFill>
                  <a:srgbClr val="222B38"/>
                </a:solidFill>
                <a:latin typeface="DejaVu Sans"/>
                <a:ea typeface="DejaVu Sans"/>
                <a:cs typeface="DejaVu Sans"/>
              </a:defRPr>
            </a:defPPr>
          </a:lstStyle>
          <a:p xmlns:a="http://schemas.openxmlformats.org/drawingml/2006/main">
            <a:pPr algn="l">
              <a:defRPr sz="2175" b="1">
                <a:solidFill>
                  <a:srgbClr val="222B38"/>
                </a:solidFill>
                <a:latin typeface="DejaVu Sans"/>
                <a:ea typeface="DejaVu Sans"/>
                <a:cs typeface="DejaVu Sans"/>
              </a:defRPr>
            </a:pPr>
            <a:r>
              <a:rPr sz="2175" b="1">
                <a:solidFill>
                  <a:srgbClr val="222B38"/>
                </a:solidFill>
                <a:latin typeface="DejaVu Sans"/>
                <a:ea typeface="DejaVu Sans"/>
                <a:cs typeface="DejaVu Sans"/>
              </a:rPr>
              <a:t>Submit</a:t>
            </a:r>
          </a:p>
        </p:txBody>
      </p:sp>
      <p:sp>
        <p:nvSpPr>
          <p:cNvPr id="6" name="text-31">
            <a:extLst xmlns:a="http://schemas.openxmlformats.org/drawingml/2006/main">
              <a:ext uri="{FF2B5EF4-FFF2-40B4-BE49-F238E27FC236}">
                <a16:creationId xmlns:a16="http://schemas.microsoft.com/office/drawing/2014/main" id="{6DE23AE4-EB73-4D07-BB66-EEE1767787BD}"/>
              </a:ext>
            </a:extLst>
          </p:cNvPr>
          <p:cNvSpPr>
            <a:spLocks xmlns:a="http://schemas.openxmlformats.org/drawingml/2006/main" noGrp="1"/>
          </p:cNvSpPr>
          <p:nvPr/>
        </p:nvSpPr>
        <p:spPr>
          <a:xfrm xmlns:a="http://schemas.openxmlformats.org/drawingml/2006/main">
            <a:off x="1476375" y="1905000"/>
            <a:ext cx="9810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697383"/>
                </a:solidFill>
                <a:latin typeface="DejaVu Sans"/>
                <a:ea typeface="DejaVu Sans"/>
                <a:cs typeface="DejaVu Sans"/>
              </a:defRPr>
            </a:defPPr>
          </a:lstStyle>
          <a:p xmlns:a="http://schemas.openxmlformats.org/drawingml/2006/main">
            <a:pPr algn="l">
              <a:defRPr sz="1800" b="0">
                <a:solidFill>
                  <a:srgbClr val="697383"/>
                </a:solidFill>
                <a:latin typeface="DejaVu Sans"/>
                <a:ea typeface="DejaVu Sans"/>
                <a:cs typeface="DejaVu Sans"/>
              </a:defRPr>
            </a:pPr>
            <a:r>
              <a:rPr sz="1800" b="0">
                <a:solidFill>
                  <a:srgbClr val="697383"/>
                </a:solidFill>
                <a:latin typeface="DejaVu Sans"/>
                <a:ea typeface="DejaVu Sans"/>
                <a:cs typeface="DejaVu Sans"/>
              </a:rPr>
              <a:t>The browser sends text and a selected sender to the bridge.</a:t>
            </a:r>
          </a:p>
        </p:txBody>
      </p:sp>
      <p:sp>
        <p:nvSpPr>
          <p:cNvPr id="7" name="text-32">
            <a:extLst xmlns:a="http://schemas.openxmlformats.org/drawingml/2006/main">
              <a:ext uri="{FF2B5EF4-FFF2-40B4-BE49-F238E27FC236}">
                <a16:creationId xmlns:a16="http://schemas.microsoft.com/office/drawing/2014/main" id="{C84032DE-ABD7-46BB-BAFC-72317AAB30B9}"/>
              </a:ext>
            </a:extLst>
          </p:cNvPr>
          <p:cNvSpPr>
            <a:spLocks xmlns:a="http://schemas.openxmlformats.org/drawingml/2006/main" noGrp="1"/>
          </p:cNvSpPr>
          <p:nvPr/>
        </p:nvSpPr>
        <p:spPr>
          <a:xfrm xmlns:a="http://schemas.openxmlformats.org/drawingml/2006/main">
            <a:off x="666750" y="2619375"/>
            <a:ext cx="571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000" b="1">
                <a:solidFill>
                  <a:srgbClr val="6756A7"/>
                </a:solidFill>
                <a:latin typeface="DejaVu Sans"/>
                <a:ea typeface="DejaVu Sans"/>
                <a:cs typeface="DejaVu Sans"/>
              </a:defRPr>
            </a:defPPr>
          </a:lstStyle>
          <a:p xmlns:a="http://schemas.openxmlformats.org/drawingml/2006/main">
            <a:pPr algn="l">
              <a:defRPr sz="3000" b="1">
                <a:solidFill>
                  <a:srgbClr val="6756A7"/>
                </a:solidFill>
                <a:latin typeface="DejaVu Sans"/>
                <a:ea typeface="DejaVu Sans"/>
                <a:cs typeface="DejaVu Sans"/>
              </a:defRPr>
            </a:pPr>
            <a:r>
              <a:rPr sz="3000" b="1">
                <a:solidFill>
                  <a:srgbClr val="6756A7"/>
                </a:solidFill>
                <a:latin typeface="DejaVu Sans"/>
                <a:ea typeface="DejaVu Sans"/>
                <a:cs typeface="DejaVu Sans"/>
              </a:rPr>
              <a:t>02</a:t>
            </a:r>
          </a:p>
        </p:txBody>
      </p:sp>
      <p:sp>
        <p:nvSpPr>
          <p:cNvPr id="8" name="text-33">
            <a:extLst xmlns:a="http://schemas.openxmlformats.org/drawingml/2006/main">
              <a:ext uri="{FF2B5EF4-FFF2-40B4-BE49-F238E27FC236}">
                <a16:creationId xmlns:a16="http://schemas.microsoft.com/office/drawing/2014/main" id="{0A8B36A9-7F9D-441B-A46C-1513BF3E3196}"/>
              </a:ext>
            </a:extLst>
          </p:cNvPr>
          <p:cNvSpPr>
            <a:spLocks xmlns:a="http://schemas.openxmlformats.org/drawingml/2006/main" noGrp="1"/>
          </p:cNvSpPr>
          <p:nvPr/>
        </p:nvSpPr>
        <p:spPr>
          <a:xfrm xmlns:a="http://schemas.openxmlformats.org/drawingml/2006/main">
            <a:off x="1476375" y="2619375"/>
            <a:ext cx="9810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1">
                <a:solidFill>
                  <a:srgbClr val="222B38"/>
                </a:solidFill>
                <a:latin typeface="DejaVu Sans"/>
                <a:ea typeface="DejaVu Sans"/>
                <a:cs typeface="DejaVu Sans"/>
              </a:defRPr>
            </a:defPPr>
          </a:lstStyle>
          <a:p xmlns:a="http://schemas.openxmlformats.org/drawingml/2006/main">
            <a:pPr algn="l">
              <a:defRPr sz="2175" b="1">
                <a:solidFill>
                  <a:srgbClr val="222B38"/>
                </a:solidFill>
                <a:latin typeface="DejaVu Sans"/>
                <a:ea typeface="DejaVu Sans"/>
                <a:cs typeface="DejaVu Sans"/>
              </a:defRPr>
            </a:pPr>
            <a:r>
              <a:rPr sz="2175" b="1">
                <a:solidFill>
                  <a:srgbClr val="222B38"/>
                </a:solidFill>
                <a:latin typeface="DejaVu Sans"/>
                <a:ea typeface="DejaVu Sans"/>
                <a:cs typeface="DejaVu Sans"/>
              </a:rPr>
              <a:t>Write</a:t>
            </a:r>
          </a:p>
        </p:txBody>
      </p:sp>
      <p:sp>
        <p:nvSpPr>
          <p:cNvPr id="9" name="text-34">
            <a:extLst xmlns:a="http://schemas.openxmlformats.org/drawingml/2006/main">
              <a:ext uri="{FF2B5EF4-FFF2-40B4-BE49-F238E27FC236}">
                <a16:creationId xmlns:a16="http://schemas.microsoft.com/office/drawing/2014/main" id="{C03E64C2-85F2-48B8-9117-863262ACAF02}"/>
              </a:ext>
            </a:extLst>
          </p:cNvPr>
          <p:cNvSpPr>
            <a:spLocks xmlns:a="http://schemas.openxmlformats.org/drawingml/2006/main" noGrp="1"/>
          </p:cNvSpPr>
          <p:nvPr/>
        </p:nvSpPr>
        <p:spPr>
          <a:xfrm xmlns:a="http://schemas.openxmlformats.org/drawingml/2006/main">
            <a:off x="1476375" y="3048000"/>
            <a:ext cx="9810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697383"/>
                </a:solidFill>
                <a:latin typeface="DejaVu Sans"/>
                <a:ea typeface="DejaVu Sans"/>
                <a:cs typeface="DejaVu Sans"/>
              </a:defRPr>
            </a:defPPr>
          </a:lstStyle>
          <a:p xmlns:a="http://schemas.openxmlformats.org/drawingml/2006/main">
            <a:pPr algn="l">
              <a:defRPr sz="1800" b="0">
                <a:solidFill>
                  <a:srgbClr val="697383"/>
                </a:solidFill>
                <a:latin typeface="DejaVu Sans"/>
                <a:ea typeface="DejaVu Sans"/>
                <a:cs typeface="DejaVu Sans"/>
              </a:defRPr>
            </a:pPr>
            <a:r>
              <a:rPr sz="1800" b="0">
                <a:solidFill>
                  <a:srgbClr val="697383"/>
                </a:solidFill>
                <a:latin typeface="DejaVu Sans"/>
                <a:ea typeface="DejaVu Sans"/>
                <a:cs typeface="DejaVu Sans"/>
              </a:rPr>
              <a:t>Process A writes the JSON frame into a_to_b.fifo.</a:t>
            </a:r>
          </a:p>
        </p:txBody>
      </p:sp>
      <p:sp>
        <p:nvSpPr>
          <p:cNvPr id="10" name="text-35">
            <a:extLst xmlns:a="http://schemas.openxmlformats.org/drawingml/2006/main">
              <a:ext uri="{FF2B5EF4-FFF2-40B4-BE49-F238E27FC236}">
                <a16:creationId xmlns:a16="http://schemas.microsoft.com/office/drawing/2014/main" id="{473D7C14-F526-4972-92C0-9AB638B26425}"/>
              </a:ext>
            </a:extLst>
          </p:cNvPr>
          <p:cNvSpPr>
            <a:spLocks xmlns:a="http://schemas.openxmlformats.org/drawingml/2006/main" noGrp="1"/>
          </p:cNvSpPr>
          <p:nvPr/>
        </p:nvSpPr>
        <p:spPr>
          <a:xfrm xmlns:a="http://schemas.openxmlformats.org/drawingml/2006/main">
            <a:off x="666750" y="3762375"/>
            <a:ext cx="571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000" b="1">
                <a:solidFill>
                  <a:srgbClr val="6756A7"/>
                </a:solidFill>
                <a:latin typeface="DejaVu Sans"/>
                <a:ea typeface="DejaVu Sans"/>
                <a:cs typeface="DejaVu Sans"/>
              </a:defRPr>
            </a:defPPr>
          </a:lstStyle>
          <a:p xmlns:a="http://schemas.openxmlformats.org/drawingml/2006/main">
            <a:pPr algn="l">
              <a:defRPr sz="3000" b="1">
                <a:solidFill>
                  <a:srgbClr val="6756A7"/>
                </a:solidFill>
                <a:latin typeface="DejaVu Sans"/>
                <a:ea typeface="DejaVu Sans"/>
                <a:cs typeface="DejaVu Sans"/>
              </a:defRPr>
            </a:pPr>
            <a:r>
              <a:rPr sz="3000" b="1">
                <a:solidFill>
                  <a:srgbClr val="6756A7"/>
                </a:solidFill>
                <a:latin typeface="DejaVu Sans"/>
                <a:ea typeface="DejaVu Sans"/>
                <a:cs typeface="DejaVu Sans"/>
              </a:rPr>
              <a:t>03</a:t>
            </a:r>
          </a:p>
        </p:txBody>
      </p:sp>
      <p:sp>
        <p:nvSpPr>
          <p:cNvPr id="11" name="text-36">
            <a:extLst xmlns:a="http://schemas.openxmlformats.org/drawingml/2006/main">
              <a:ext uri="{FF2B5EF4-FFF2-40B4-BE49-F238E27FC236}">
                <a16:creationId xmlns:a16="http://schemas.microsoft.com/office/drawing/2014/main" id="{78838887-C728-47D9-A0BF-5A2ED52DEC1D}"/>
              </a:ext>
            </a:extLst>
          </p:cNvPr>
          <p:cNvSpPr>
            <a:spLocks xmlns:a="http://schemas.openxmlformats.org/drawingml/2006/main" noGrp="1"/>
          </p:cNvSpPr>
          <p:nvPr/>
        </p:nvSpPr>
        <p:spPr>
          <a:xfrm xmlns:a="http://schemas.openxmlformats.org/drawingml/2006/main">
            <a:off x="1476375" y="3762375"/>
            <a:ext cx="9810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1">
                <a:solidFill>
                  <a:srgbClr val="222B38"/>
                </a:solidFill>
                <a:latin typeface="DejaVu Sans"/>
                <a:ea typeface="DejaVu Sans"/>
                <a:cs typeface="DejaVu Sans"/>
              </a:defRPr>
            </a:defPPr>
          </a:lstStyle>
          <a:p xmlns:a="http://schemas.openxmlformats.org/drawingml/2006/main">
            <a:pPr algn="l">
              <a:defRPr sz="2175" b="1">
                <a:solidFill>
                  <a:srgbClr val="222B38"/>
                </a:solidFill>
                <a:latin typeface="DejaVu Sans"/>
                <a:ea typeface="DejaVu Sans"/>
                <a:cs typeface="DejaVu Sans"/>
              </a:defRPr>
            </a:pPr>
            <a:r>
              <a:rPr sz="2175" b="1">
                <a:solidFill>
                  <a:srgbClr val="222B38"/>
                </a:solidFill>
                <a:latin typeface="DejaVu Sans"/>
                <a:ea typeface="DejaVu Sans"/>
                <a:cs typeface="DejaVu Sans"/>
              </a:rPr>
              <a:t>Read</a:t>
            </a:r>
          </a:p>
        </p:txBody>
      </p:sp>
      <p:sp>
        <p:nvSpPr>
          <p:cNvPr id="12" name="text-37">
            <a:extLst xmlns:a="http://schemas.openxmlformats.org/drawingml/2006/main">
              <a:ext uri="{FF2B5EF4-FFF2-40B4-BE49-F238E27FC236}">
                <a16:creationId xmlns:a16="http://schemas.microsoft.com/office/drawing/2014/main" id="{93E5B192-3378-48D7-A751-5389C2C9108E}"/>
              </a:ext>
            </a:extLst>
          </p:cNvPr>
          <p:cNvSpPr>
            <a:spLocks xmlns:a="http://schemas.openxmlformats.org/drawingml/2006/main" noGrp="1"/>
          </p:cNvSpPr>
          <p:nvPr/>
        </p:nvSpPr>
        <p:spPr>
          <a:xfrm xmlns:a="http://schemas.openxmlformats.org/drawingml/2006/main">
            <a:off x="1476375" y="4191000"/>
            <a:ext cx="9810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697383"/>
                </a:solidFill>
                <a:latin typeface="DejaVu Sans"/>
                <a:ea typeface="DejaVu Sans"/>
                <a:cs typeface="DejaVu Sans"/>
              </a:defRPr>
            </a:defPPr>
          </a:lstStyle>
          <a:p xmlns:a="http://schemas.openxmlformats.org/drawingml/2006/main">
            <a:pPr algn="l">
              <a:defRPr sz="1800" b="0">
                <a:solidFill>
                  <a:srgbClr val="697383"/>
                </a:solidFill>
                <a:latin typeface="DejaVu Sans"/>
                <a:ea typeface="DejaVu Sans"/>
                <a:cs typeface="DejaVu Sans"/>
              </a:defRPr>
            </a:pPr>
            <a:r>
              <a:rPr sz="1800" b="0">
                <a:solidFill>
                  <a:srgbClr val="697383"/>
                </a:solidFill>
                <a:latin typeface="DejaVu Sans"/>
                <a:ea typeface="DejaVu Sans"/>
                <a:cs typeface="DejaVu Sans"/>
              </a:rPr>
              <a:t>Process B reads the FIFO and emits a receiving event.</a:t>
            </a:r>
          </a:p>
        </p:txBody>
      </p:sp>
      <p:sp>
        <p:nvSpPr>
          <p:cNvPr id="13" name="text-38">
            <a:extLst xmlns:a="http://schemas.openxmlformats.org/drawingml/2006/main">
              <a:ext uri="{FF2B5EF4-FFF2-40B4-BE49-F238E27FC236}">
                <a16:creationId xmlns:a16="http://schemas.microsoft.com/office/drawing/2014/main" id="{C7A7A5CA-543E-4CCB-B3A4-BDA452AF1CA9}"/>
              </a:ext>
            </a:extLst>
          </p:cNvPr>
          <p:cNvSpPr>
            <a:spLocks xmlns:a="http://schemas.openxmlformats.org/drawingml/2006/main" noGrp="1"/>
          </p:cNvSpPr>
          <p:nvPr/>
        </p:nvSpPr>
        <p:spPr>
          <a:xfrm xmlns:a="http://schemas.openxmlformats.org/drawingml/2006/main">
            <a:off x="666750" y="4905375"/>
            <a:ext cx="571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000" b="1">
                <a:solidFill>
                  <a:srgbClr val="6756A7"/>
                </a:solidFill>
                <a:latin typeface="DejaVu Sans"/>
                <a:ea typeface="DejaVu Sans"/>
                <a:cs typeface="DejaVu Sans"/>
              </a:defRPr>
            </a:defPPr>
          </a:lstStyle>
          <a:p xmlns:a="http://schemas.openxmlformats.org/drawingml/2006/main">
            <a:pPr algn="l">
              <a:defRPr sz="3000" b="1">
                <a:solidFill>
                  <a:srgbClr val="6756A7"/>
                </a:solidFill>
                <a:latin typeface="DejaVu Sans"/>
                <a:ea typeface="DejaVu Sans"/>
                <a:cs typeface="DejaVu Sans"/>
              </a:defRPr>
            </a:pPr>
            <a:r>
              <a:rPr sz="3000" b="1">
                <a:solidFill>
                  <a:srgbClr val="6756A7"/>
                </a:solidFill>
                <a:latin typeface="DejaVu Sans"/>
                <a:ea typeface="DejaVu Sans"/>
                <a:cs typeface="DejaVu Sans"/>
              </a:rPr>
              <a:t>04</a:t>
            </a:r>
          </a:p>
        </p:txBody>
      </p:sp>
      <p:sp>
        <p:nvSpPr>
          <p:cNvPr id="14" name="text-39">
            <a:extLst xmlns:a="http://schemas.openxmlformats.org/drawingml/2006/main">
              <a:ext uri="{FF2B5EF4-FFF2-40B4-BE49-F238E27FC236}">
                <a16:creationId xmlns:a16="http://schemas.microsoft.com/office/drawing/2014/main" id="{ECD30FAA-6E49-46D8-BCB3-626EC1474609}"/>
              </a:ext>
            </a:extLst>
          </p:cNvPr>
          <p:cNvSpPr>
            <a:spLocks xmlns:a="http://schemas.openxmlformats.org/drawingml/2006/main" noGrp="1"/>
          </p:cNvSpPr>
          <p:nvPr/>
        </p:nvSpPr>
        <p:spPr>
          <a:xfrm xmlns:a="http://schemas.openxmlformats.org/drawingml/2006/main">
            <a:off x="1476375" y="4905375"/>
            <a:ext cx="9810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1">
                <a:solidFill>
                  <a:srgbClr val="222B38"/>
                </a:solidFill>
                <a:latin typeface="DejaVu Sans"/>
                <a:ea typeface="DejaVu Sans"/>
                <a:cs typeface="DejaVu Sans"/>
              </a:defRPr>
            </a:defPPr>
          </a:lstStyle>
          <a:p xmlns:a="http://schemas.openxmlformats.org/drawingml/2006/main">
            <a:pPr algn="l">
              <a:defRPr sz="2175" b="1">
                <a:solidFill>
                  <a:srgbClr val="222B38"/>
                </a:solidFill>
                <a:latin typeface="DejaVu Sans"/>
                <a:ea typeface="DejaVu Sans"/>
                <a:cs typeface="DejaVu Sans"/>
              </a:defRPr>
            </a:pPr>
            <a:r>
              <a:rPr sz="2175" b="1">
                <a:solidFill>
                  <a:srgbClr val="222B38"/>
                </a:solidFill>
                <a:latin typeface="DejaVu Sans"/>
                <a:ea typeface="DejaVu Sans"/>
                <a:cs typeface="DejaVu Sans"/>
              </a:rPr>
              <a:t>Confirm</a:t>
            </a:r>
          </a:p>
        </p:txBody>
      </p:sp>
      <p:sp>
        <p:nvSpPr>
          <p:cNvPr id="15" name="text-40">
            <a:extLst xmlns:a="http://schemas.openxmlformats.org/drawingml/2006/main">
              <a:ext uri="{FF2B5EF4-FFF2-40B4-BE49-F238E27FC236}">
                <a16:creationId xmlns:a16="http://schemas.microsoft.com/office/drawing/2014/main" id="{871FD92A-F001-4093-8003-3068F9E5C1AC}"/>
              </a:ext>
            </a:extLst>
          </p:cNvPr>
          <p:cNvSpPr>
            <a:spLocks xmlns:a="http://schemas.openxmlformats.org/drawingml/2006/main" noGrp="1"/>
          </p:cNvSpPr>
          <p:nvPr/>
        </p:nvSpPr>
        <p:spPr>
          <a:xfrm xmlns:a="http://schemas.openxmlformats.org/drawingml/2006/main">
            <a:off x="1476375" y="5334000"/>
            <a:ext cx="9810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697383"/>
                </a:solidFill>
                <a:latin typeface="DejaVu Sans"/>
                <a:ea typeface="DejaVu Sans"/>
                <a:cs typeface="DejaVu Sans"/>
              </a:defRPr>
            </a:defPPr>
          </a:lstStyle>
          <a:p xmlns:a="http://schemas.openxmlformats.org/drawingml/2006/main">
            <a:pPr algn="l">
              <a:defRPr sz="1800" b="0">
                <a:solidFill>
                  <a:srgbClr val="697383"/>
                </a:solidFill>
                <a:latin typeface="DejaVu Sans"/>
                <a:ea typeface="DejaVu Sans"/>
                <a:cs typeface="DejaVu Sans"/>
              </a:defRPr>
            </a:pPr>
            <a:r>
              <a:rPr sz="1800" b="0">
                <a:solidFill>
                  <a:srgbClr val="697383"/>
                </a:solidFill>
                <a:latin typeface="DejaVu Sans"/>
                <a:ea typeface="DejaVu Sans"/>
                <a:cs typeface="DejaVu Sans"/>
              </a:rPr>
              <a:t>The bridge matches the message ID and text before delivery.</a:t>
            </a:r>
          </a:p>
        </p:txBody>
      </p:sp>
    </p:spTree>
    <p:extLst>
      <p:ext uri="{BB962C8B-B14F-4D97-AF65-F5344CB8AC3E}">
        <p14:creationId xmlns:p14="http://schemas.microsoft.com/office/powerpoint/2010/main" val="696446136"/>
      </p:ext>
    </p:extLst>
  </p:cSld>
</p:sld>
</file>

<file path=ppt/slides/slide6.xml><?xml version="1.0" encoding="utf-8"?>
<p:sld xmlns:p="http://schemas.openxmlformats.org/presentationml/2006/main">
  <p:cSld>
    <p:bg>
      <p:bgPr>
        <a:solidFill xmlns:a="http://schemas.openxmlformats.org/drawingml/2006/main">
          <a:srgbClr val="FCFBF8"/>
        </a:solidFill>
      </p:bgPr>
    </p:bg>
    <p:spTree>
      <p:nvGrpSpPr>
        <p:cNvPr id="1" name=""/>
        <p:cNvGrpSpPr/>
        <p:nvPr/>
      </p:nvGrpSpPr>
      <p:grpSpPr>
        <a:xfrm xmlns:a="http://schemas.openxmlformats.org/drawingml/2006/main"/>
      </p:grpSpPr>
      <p:sp>
        <p:nvSpPr>
          <p:cNvPr id="6" name="text-41">
            <a:extLst xmlns:a="http://schemas.openxmlformats.org/drawingml/2006/main">
              <a:ext uri="{FF2B5EF4-FFF2-40B4-BE49-F238E27FC236}">
                <a16:creationId xmlns:a16="http://schemas.microsoft.com/office/drawing/2014/main" id="{8563C576-402A-4C38-A231-ABB973E560D3}"/>
              </a:ext>
            </a:extLst>
          </p:cNvPr>
          <p:cNvSpPr>
            <a:spLocks xmlns:a="http://schemas.openxmlformats.org/drawingml/2006/main" noGrp="1"/>
          </p:cNvSpPr>
          <p:nvPr/>
        </p:nvSpPr>
        <p:spPr>
          <a:xfrm xmlns:a="http://schemas.openxmlformats.org/drawingml/2006/main">
            <a:off x="628650" y="428625"/>
            <a:ext cx="10953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222B38"/>
                </a:solidFill>
                <a:latin typeface="DejaVu Sans"/>
                <a:ea typeface="DejaVu Sans"/>
                <a:cs typeface="DejaVu Sans"/>
              </a:defRPr>
            </a:defPPr>
          </a:lstStyle>
          <a:p xmlns:a="http://schemas.openxmlformats.org/drawingml/2006/main">
            <a:pPr algn="l">
              <a:defRPr sz="3300" b="1">
                <a:solidFill>
                  <a:srgbClr val="222B38"/>
                </a:solidFill>
                <a:latin typeface="DejaVu Sans"/>
                <a:ea typeface="DejaVu Sans"/>
                <a:cs typeface="DejaVu Sans"/>
              </a:defRPr>
            </a:pPr>
            <a:r>
              <a:rPr sz="3300" b="1">
                <a:solidFill>
                  <a:srgbClr val="222B38"/>
                </a:solidFill>
                <a:latin typeface="DejaVu Sans"/>
                <a:ea typeface="DejaVu Sans"/>
                <a:cs typeface="DejaVu Sans"/>
              </a:rPr>
              <a:t>Web Bridge and HTTP Operations</a:t>
            </a:r>
          </a:p>
        </p:txBody>
      </p:sp>
      <p:sp>
        <p:nvSpPr>
          <p:cNvPr id="2" name="text-42">
            <a:extLst xmlns:a="http://schemas.openxmlformats.org/drawingml/2006/main">
              <a:ext uri="{FF2B5EF4-FFF2-40B4-BE49-F238E27FC236}">
                <a16:creationId xmlns:a16="http://schemas.microsoft.com/office/drawing/2014/main" id="{437C4C2B-686B-48CC-B68B-ADC83A6C35BF}"/>
              </a:ext>
            </a:extLst>
          </p:cNvPr>
          <p:cNvSpPr>
            <a:spLocks xmlns:a="http://schemas.openxmlformats.org/drawingml/2006/main" noGrp="1"/>
          </p:cNvSpPr>
          <p:nvPr/>
        </p:nvSpPr>
        <p:spPr>
          <a:xfrm xmlns:a="http://schemas.openxmlformats.org/drawingml/2006/main">
            <a:off x="628650" y="6477000"/>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0">
                <a:solidFill>
                  <a:srgbClr val="697383"/>
                </a:solidFill>
                <a:latin typeface="DejaVu Sans"/>
                <a:ea typeface="DejaVu Sans"/>
                <a:cs typeface="DejaVu Sans"/>
              </a:defRPr>
            </a:defPPr>
          </a:lstStyle>
          <a:p xmlns:a="http://schemas.openxmlformats.org/drawingml/2006/main">
            <a:pPr algn="l">
              <a:defRPr sz="1050" b="0">
                <a:solidFill>
                  <a:srgbClr val="697383"/>
                </a:solidFill>
                <a:latin typeface="DejaVu Sans"/>
                <a:ea typeface="DejaVu Sans"/>
                <a:cs typeface="DejaVu Sans"/>
              </a:defRPr>
            </a:pPr>
            <a:r>
              <a:rPr sz="1050" b="0">
                <a:solidFill>
                  <a:srgbClr val="697383"/>
                </a:solidFill>
                <a:latin typeface="DejaVu Sans"/>
                <a:ea typeface="DejaVu Sans"/>
                <a:cs typeface="DejaVu Sans"/>
              </a:rPr>
              <a:t>PipeTalk  /  OSSP Hackathon Team 8</a:t>
            </a:r>
          </a:p>
        </p:txBody>
      </p:sp>
      <p:sp>
        <p:nvSpPr>
          <p:cNvPr id="3" name="text-43">
            <a:extLst xmlns:a="http://schemas.openxmlformats.org/drawingml/2006/main">
              <a:ext uri="{FF2B5EF4-FFF2-40B4-BE49-F238E27FC236}">
                <a16:creationId xmlns:a16="http://schemas.microsoft.com/office/drawing/2014/main" id="{671EEFA7-15D2-4C9C-B62D-D38033C812DD}"/>
              </a:ext>
            </a:extLst>
          </p:cNvPr>
          <p:cNvSpPr>
            <a:spLocks xmlns:a="http://schemas.openxmlformats.org/drawingml/2006/main" noGrp="1"/>
          </p:cNvSpPr>
          <p:nvPr/>
        </p:nvSpPr>
        <p:spPr>
          <a:xfrm xmlns:a="http://schemas.openxmlformats.org/drawingml/2006/main">
            <a:off x="11049000" y="647700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0">
                <a:solidFill>
                  <a:srgbClr val="697383"/>
                </a:solidFill>
                <a:latin typeface="DejaVu Sans"/>
                <a:ea typeface="DejaVu Sans"/>
                <a:cs typeface="DejaVu Sans"/>
              </a:defRPr>
            </a:defPPr>
          </a:lstStyle>
          <a:p xmlns:a="http://schemas.openxmlformats.org/drawingml/2006/main">
            <a:pPr algn="l">
              <a:defRPr sz="1050" b="0">
                <a:solidFill>
                  <a:srgbClr val="697383"/>
                </a:solidFill>
                <a:latin typeface="DejaVu Sans"/>
                <a:ea typeface="DejaVu Sans"/>
                <a:cs typeface="DejaVu Sans"/>
              </a:defRPr>
            </a:pPr>
            <a:r>
              <a:rPr sz="1050" b="0">
                <a:solidFill>
                  <a:srgbClr val="697383"/>
                </a:solidFill>
                <a:latin typeface="DejaVu Sans"/>
                <a:ea typeface="DejaVu Sans"/>
                <a:cs typeface="DejaVu Sans"/>
              </a:rPr>
              <a:t>06</a:t>
            </a:r>
          </a:p>
        </p:txBody>
      </p:sp>
      <p:graphicFrame>
        <p:nvGraphicFramePr>
          <p:cNvPr id="4" name="">
            <a:extLst xmlns:a="http://schemas.openxmlformats.org/drawingml/2006/main">
              <a:ext uri="{FF2B5EF4-FFF2-40B4-BE49-F238E27FC236}">
                <a16:creationId xmlns:a16="http://schemas.microsoft.com/office/drawing/2014/main" id="{76873C33-F1ED-4626-A0A9-2F88B6A01202}"/>
              </a:ext>
            </a:extLst>
          </p:cNvPr>
          <p:cNvGraphicFramePr/>
          <p:nvPr/>
        </p:nvGraphicFramePr>
        <p:xfrm>
          <a:off xmlns:a="http://schemas.openxmlformats.org/drawingml/2006/main" x="628650" y="1619250"/>
          <a:ext xmlns:a="http://schemas.openxmlformats.org/drawingml/2006/main" cx="10934700" cy="3286125"/>
        </p:xfrm>
        <a:graphic xmlns:a="http://schemas.openxmlformats.org/drawingml/2006/main">
          <a:graphicData uri="http://schemas.openxmlformats.org/drawingml/2006/table">
            <a:tbl>
              <a:tblPr/>
              <a:tblGrid>
                <a:gridCol w="3857625"/>
                <a:gridCol w="7077075"/>
              </a:tblGrid>
              <a:tr h="657225">
                <a:tc>
                  <a:txBody>
                    <a:bodyPr lIns="152400" tIns="123825" rIns="114300" bIns="95250">
                      <a:noAutofit/>
                    </a:bodyPr>
                    <a:lstStyle/>
                    <a:p>
                      <a:r>
                        <a:rPr sz="1875" b="1">
                          <a:solidFill>
                            <a:srgbClr val="FFFFFF"/>
                          </a:solidFill>
                          <a:latin typeface="DejaVu Sans"/>
                          <a:ea typeface="DejaVu Sans"/>
                          <a:cs typeface="DejaVu Sans"/>
                        </a:rPr>
                        <a:t>Operation</a:t>
                      </a:r>
                    </a:p>
                  </a:txBody>
                  <a:tcPr marL="91440" marR="91440" marT="45720" marB="45720" anchor="ctr">
                    <a:lnL w="9525">
                      <a:solidFill>
                        <a:srgbClr val="D9DBE1"/>
                      </a:solidFill>
                      <a:prstDash val="solid"/>
                    </a:lnL>
                    <a:lnR w="9525">
                      <a:solidFill>
                        <a:srgbClr val="D9DBE1"/>
                      </a:solidFill>
                      <a:prstDash val="solid"/>
                    </a:lnR>
                    <a:lnT w="9525">
                      <a:solidFill>
                        <a:srgbClr val="D9DBE1"/>
                      </a:solidFill>
                      <a:prstDash val="solid"/>
                    </a:lnT>
                    <a:lnB w="9525">
                      <a:solidFill>
                        <a:srgbClr val="D9DBE1"/>
                      </a:solidFill>
                      <a:prstDash val="solid"/>
                    </a:lnB>
                    <a:solidFill>
                      <a:srgbClr val="333B4B"/>
                    </a:solidFill>
                  </a:tcPr>
                </a:tc>
                <a:tc>
                  <a:txBody>
                    <a:bodyPr lIns="152400" tIns="123825" rIns="114300" bIns="95250">
                      <a:noAutofit/>
                    </a:bodyPr>
                    <a:lstStyle/>
                    <a:p>
                      <a:r>
                        <a:rPr sz="1875" b="1">
                          <a:solidFill>
                            <a:srgbClr val="FFFFFF"/>
                          </a:solidFill>
                          <a:latin typeface="DejaVu Sans"/>
                          <a:ea typeface="DejaVu Sans"/>
                          <a:cs typeface="DejaVu Sans"/>
                        </a:rPr>
                        <a:t>Purpose</a:t>
                      </a:r>
                    </a:p>
                  </a:txBody>
                  <a:tcPr marL="91440" marR="91440" marT="45720" marB="45720" anchor="ctr">
                    <a:lnR w="9525">
                      <a:solidFill>
                        <a:srgbClr val="D9DBE1"/>
                      </a:solidFill>
                      <a:prstDash val="solid"/>
                    </a:lnR>
                    <a:lnT w="9525">
                      <a:solidFill>
                        <a:srgbClr val="D9DBE1"/>
                      </a:solidFill>
                      <a:prstDash val="solid"/>
                    </a:lnT>
                    <a:lnB w="9525">
                      <a:solidFill>
                        <a:srgbClr val="D9DBE1"/>
                      </a:solidFill>
                      <a:prstDash val="solid"/>
                    </a:lnB>
                    <a:solidFill>
                      <a:srgbClr val="333B4B"/>
                    </a:solidFill>
                  </a:tcPr>
                </a:tc>
              </a:tr>
              <a:tr h="657225">
                <a:tc>
                  <a:txBody>
                    <a:bodyPr lIns="152400" tIns="123825" rIns="114300" bIns="95250">
                      <a:noAutofit/>
                    </a:bodyPr>
                    <a:lstStyle/>
                    <a:p>
                      <a:r>
                        <a:rPr sz="1875" b="0">
                          <a:solidFill>
                            <a:srgbClr val="222B38"/>
                          </a:solidFill>
                          <a:latin typeface="DejaVu Sans"/>
                          <a:ea typeface="DejaVu Sans"/>
                          <a:cs typeface="DejaVu Sans"/>
                        </a:rPr>
                        <a:t>GET /api/state</a:t>
                      </a:r>
                    </a:p>
                  </a:txBody>
                  <a:tcPr marL="91440" marR="91440" marT="45720" marB="45720" anchor="ctr">
                    <a:lnL w="9525">
                      <a:solidFill>
                        <a:srgbClr val="D9DBE1"/>
                      </a:solidFill>
                      <a:prstDash val="solid"/>
                    </a:lnL>
                    <a:lnR w="9525">
                      <a:solidFill>
                        <a:srgbClr val="D9DBE1"/>
                      </a:solidFill>
                      <a:prstDash val="solid"/>
                    </a:lnR>
                    <a:lnB w="9525">
                      <a:solidFill>
                        <a:srgbClr val="D9DBE1"/>
                      </a:solidFill>
                      <a:prstDash val="solid"/>
                    </a:lnB>
                    <a:solidFill>
                      <a:srgbClr val="FFFFFF"/>
                    </a:solidFill>
                  </a:tcPr>
                </a:tc>
                <a:tc>
                  <a:txBody>
                    <a:bodyPr lIns="152400" tIns="123825" rIns="114300" bIns="95250">
                      <a:noAutofit/>
                    </a:bodyPr>
                    <a:lstStyle/>
                    <a:p>
                      <a:r>
                        <a:rPr sz="1875" b="0">
                          <a:solidFill>
                            <a:srgbClr val="222B38"/>
                          </a:solidFill>
                          <a:latin typeface="DejaVu Sans"/>
                          <a:ea typeface="DejaVu Sans"/>
                          <a:cs typeface="DejaVu Sans"/>
                        </a:rPr>
                        <a:t>Read messages, events and process details</a:t>
                      </a:r>
                    </a:p>
                  </a:txBody>
                  <a:tcPr marL="91440" marR="91440" marT="45720" marB="45720" anchor="ctr">
                    <a:lnR w="9525">
                      <a:solidFill>
                        <a:srgbClr val="D9DBE1"/>
                      </a:solidFill>
                      <a:prstDash val="solid"/>
                    </a:lnR>
                    <a:lnB w="9525">
                      <a:solidFill>
                        <a:srgbClr val="D9DBE1"/>
                      </a:solidFill>
                      <a:prstDash val="solid"/>
                    </a:lnB>
                    <a:solidFill>
                      <a:srgbClr val="FFFFFF"/>
                    </a:solidFill>
                  </a:tcPr>
                </a:tc>
              </a:tr>
              <a:tr h="657225">
                <a:tc>
                  <a:txBody>
                    <a:bodyPr lIns="152400" tIns="123825" rIns="114300" bIns="95250">
                      <a:noAutofit/>
                    </a:bodyPr>
                    <a:lstStyle/>
                    <a:p>
                      <a:r>
                        <a:rPr sz="1875" b="0">
                          <a:solidFill>
                            <a:srgbClr val="222B38"/>
                          </a:solidFill>
                          <a:latin typeface="DejaVu Sans"/>
                          <a:ea typeface="DejaVu Sans"/>
                          <a:cs typeface="DejaVu Sans"/>
                        </a:rPr>
                        <a:t>POST /api/send</a:t>
                      </a:r>
                    </a:p>
                  </a:txBody>
                  <a:tcPr marL="91440" marR="91440" marT="45720" marB="45720" anchor="ctr">
                    <a:lnL w="9525">
                      <a:solidFill>
                        <a:srgbClr val="D9DBE1"/>
                      </a:solidFill>
                      <a:prstDash val="solid"/>
                    </a:lnL>
                    <a:lnR w="9525">
                      <a:solidFill>
                        <a:srgbClr val="D9DBE1"/>
                      </a:solidFill>
                      <a:prstDash val="solid"/>
                    </a:lnR>
                    <a:lnB w="9525">
                      <a:solidFill>
                        <a:srgbClr val="D9DBE1"/>
                      </a:solidFill>
                      <a:prstDash val="solid"/>
                    </a:lnB>
                    <a:solidFill>
                      <a:srgbClr val="F1F0F6"/>
                    </a:solidFill>
                  </a:tcPr>
                </a:tc>
                <a:tc>
                  <a:txBody>
                    <a:bodyPr lIns="152400" tIns="123825" rIns="114300" bIns="95250">
                      <a:noAutofit/>
                    </a:bodyPr>
                    <a:lstStyle/>
                    <a:p>
                      <a:r>
                        <a:rPr sz="1875" b="0">
                          <a:solidFill>
                            <a:srgbClr val="222B38"/>
                          </a:solidFill>
                          <a:latin typeface="DejaVu Sans"/>
                          <a:ea typeface="DejaVu Sans"/>
                          <a:cs typeface="DejaVu Sans"/>
                        </a:rPr>
                        <a:t>Queue text for the selected C peer</a:t>
                      </a:r>
                    </a:p>
                  </a:txBody>
                  <a:tcPr marL="91440" marR="91440" marT="45720" marB="45720" anchor="ctr">
                    <a:lnR w="9525">
                      <a:solidFill>
                        <a:srgbClr val="D9DBE1"/>
                      </a:solidFill>
                      <a:prstDash val="solid"/>
                    </a:lnR>
                    <a:lnB w="9525">
                      <a:solidFill>
                        <a:srgbClr val="D9DBE1"/>
                      </a:solidFill>
                      <a:prstDash val="solid"/>
                    </a:lnB>
                    <a:solidFill>
                      <a:srgbClr val="F1F0F6"/>
                    </a:solidFill>
                  </a:tcPr>
                </a:tc>
              </a:tr>
              <a:tr h="657225">
                <a:tc>
                  <a:txBody>
                    <a:bodyPr lIns="152400" tIns="123825" rIns="114300" bIns="95250">
                      <a:noAutofit/>
                    </a:bodyPr>
                    <a:lstStyle/>
                    <a:p>
                      <a:r>
                        <a:rPr sz="1875" b="0">
                          <a:solidFill>
                            <a:srgbClr val="222B38"/>
                          </a:solidFill>
                          <a:latin typeface="DejaVu Sans"/>
                          <a:ea typeface="DejaVu Sans"/>
                          <a:cs typeface="DejaVu Sans"/>
                        </a:rPr>
                        <a:t>POST /api/restart</a:t>
                      </a:r>
                    </a:p>
                  </a:txBody>
                  <a:tcPr marL="91440" marR="91440" marT="45720" marB="45720" anchor="ctr">
                    <a:lnL w="9525">
                      <a:solidFill>
                        <a:srgbClr val="D9DBE1"/>
                      </a:solidFill>
                      <a:prstDash val="solid"/>
                    </a:lnL>
                    <a:lnR w="9525">
                      <a:solidFill>
                        <a:srgbClr val="D9DBE1"/>
                      </a:solidFill>
                      <a:prstDash val="solid"/>
                    </a:lnR>
                    <a:lnB w="9525">
                      <a:solidFill>
                        <a:srgbClr val="D9DBE1"/>
                      </a:solidFill>
                      <a:prstDash val="solid"/>
                    </a:lnB>
                    <a:solidFill>
                      <a:srgbClr val="FFFFFF"/>
                    </a:solidFill>
                  </a:tcPr>
                </a:tc>
                <a:tc>
                  <a:txBody>
                    <a:bodyPr lIns="152400" tIns="123825" rIns="114300" bIns="95250">
                      <a:noAutofit/>
                    </a:bodyPr>
                    <a:lstStyle/>
                    <a:p>
                      <a:r>
                        <a:rPr sz="1875" b="0">
                          <a:solidFill>
                            <a:srgbClr val="222B38"/>
                          </a:solidFill>
                          <a:latin typeface="DejaVu Sans"/>
                          <a:ea typeface="DejaVu Sans"/>
                          <a:cs typeface="DejaVu Sans"/>
                        </a:rPr>
                        <a:t>Recreate both peers and FIFO channels</a:t>
                      </a:r>
                    </a:p>
                  </a:txBody>
                  <a:tcPr marL="91440" marR="91440" marT="45720" marB="45720" anchor="ctr">
                    <a:lnR w="9525">
                      <a:solidFill>
                        <a:srgbClr val="D9DBE1"/>
                      </a:solidFill>
                      <a:prstDash val="solid"/>
                    </a:lnR>
                    <a:lnB w="9525">
                      <a:solidFill>
                        <a:srgbClr val="D9DBE1"/>
                      </a:solidFill>
                      <a:prstDash val="solid"/>
                    </a:lnB>
                    <a:solidFill>
                      <a:srgbClr val="FFFFFF"/>
                    </a:solidFill>
                  </a:tcPr>
                </a:tc>
              </a:tr>
              <a:tr h="657225">
                <a:tc>
                  <a:txBody>
                    <a:bodyPr lIns="152400" tIns="123825" rIns="114300" bIns="95250">
                      <a:noAutofit/>
                    </a:bodyPr>
                    <a:lstStyle/>
                    <a:p>
                      <a:r>
                        <a:rPr sz="1875" b="0">
                          <a:solidFill>
                            <a:srgbClr val="222B38"/>
                          </a:solidFill>
                          <a:latin typeface="DejaVu Sans"/>
                          <a:ea typeface="DejaVu Sans"/>
                          <a:cs typeface="DejaVu Sans"/>
                        </a:rPr>
                        <a:t>GET /api/export</a:t>
                      </a:r>
                    </a:p>
                  </a:txBody>
                  <a:tcPr marL="91440" marR="91440" marT="45720" marB="45720" anchor="ctr">
                    <a:lnL w="9525">
                      <a:solidFill>
                        <a:srgbClr val="D9DBE1"/>
                      </a:solidFill>
                      <a:prstDash val="solid"/>
                    </a:lnL>
                    <a:lnR w="9525">
                      <a:solidFill>
                        <a:srgbClr val="D9DBE1"/>
                      </a:solidFill>
                      <a:prstDash val="solid"/>
                    </a:lnR>
                    <a:lnB w="9525">
                      <a:solidFill>
                        <a:srgbClr val="D9DBE1"/>
                      </a:solidFill>
                      <a:prstDash val="solid"/>
                    </a:lnB>
                    <a:solidFill>
                      <a:srgbClr val="F1F0F6"/>
                    </a:solidFill>
                  </a:tcPr>
                </a:tc>
                <a:tc>
                  <a:txBody>
                    <a:bodyPr lIns="152400" tIns="123825" rIns="114300" bIns="95250">
                      <a:noAutofit/>
                    </a:bodyPr>
                    <a:lstStyle/>
                    <a:p>
                      <a:r>
                        <a:rPr sz="1875" b="0">
                          <a:solidFill>
                            <a:srgbClr val="222B38"/>
                          </a:solidFill>
                          <a:latin typeface="DejaVu Sans"/>
                          <a:ea typeface="DejaVu Sans"/>
                          <a:cs typeface="DejaVu Sans"/>
                        </a:rPr>
                        <a:t>Download retained session records</a:t>
                      </a:r>
                    </a:p>
                  </a:txBody>
                  <a:tcPr marL="91440" marR="91440" marT="45720" marB="45720" anchor="ctr">
                    <a:lnR w="9525">
                      <a:solidFill>
                        <a:srgbClr val="D9DBE1"/>
                      </a:solidFill>
                      <a:prstDash val="solid"/>
                    </a:lnR>
                    <a:lnB w="9525">
                      <a:solidFill>
                        <a:srgbClr val="D9DBE1"/>
                      </a:solidFill>
                      <a:prstDash val="solid"/>
                    </a:lnB>
                    <a:solidFill>
                      <a:srgbClr val="F1F0F6"/>
                    </a:solidFill>
                  </a:tcPr>
                </a:tc>
              </a:tr>
            </a:tbl>
          </a:graphicData>
        </a:graphic>
      </p:graphicFrame>
      <p:sp>
        <p:nvSpPr>
          <p:cNvPr id="5" name="text-44">
            <a:extLst xmlns:a="http://schemas.openxmlformats.org/drawingml/2006/main">
              <a:ext uri="{FF2B5EF4-FFF2-40B4-BE49-F238E27FC236}">
                <a16:creationId xmlns:a16="http://schemas.microsoft.com/office/drawing/2014/main" id="{D990CA05-9059-4415-89A3-3ED3D9C457C7}"/>
              </a:ext>
            </a:extLst>
          </p:cNvPr>
          <p:cNvSpPr>
            <a:spLocks xmlns:a="http://schemas.openxmlformats.org/drawingml/2006/main" noGrp="1"/>
          </p:cNvSpPr>
          <p:nvPr/>
        </p:nvSpPr>
        <p:spPr>
          <a:xfrm xmlns:a="http://schemas.openxmlformats.org/drawingml/2006/main">
            <a:off x="666750" y="5238750"/>
            <a:ext cx="106680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6756A7"/>
                </a:solidFill>
                <a:latin typeface="DejaVu Sans"/>
                <a:ea typeface="DejaVu Sans"/>
                <a:cs typeface="DejaVu Sans"/>
              </a:defRPr>
            </a:defPPr>
          </a:lstStyle>
          <a:p xmlns:a="http://schemas.openxmlformats.org/drawingml/2006/main">
            <a:pPr algn="l">
              <a:defRPr sz="2025" b="0">
                <a:solidFill>
                  <a:srgbClr val="6756A7"/>
                </a:solidFill>
                <a:latin typeface="DejaVu Sans"/>
                <a:ea typeface="DejaVu Sans"/>
                <a:cs typeface="DejaVu Sans"/>
              </a:defRPr>
            </a:pPr>
            <a:r>
              <a:rPr sz="2025" b="0">
                <a:solidFill>
                  <a:srgbClr val="6756A7"/>
                </a:solidFill>
                <a:latin typeface="DejaVu Sans"/>
                <a:ea typeface="DejaVu Sans"/>
                <a:cs typeface="DejaVu Sans"/>
              </a:rPr>
              <a:t>Local server: 127.0.0.1</a:t>
            </a:r>
          </a:p>
          <a:p xmlns:a="http://schemas.openxmlformats.org/drawingml/2006/main">
            <a:pPr algn="l">
              <a:defRPr sz="2025" b="0">
                <a:solidFill>
                  <a:srgbClr val="6756A7"/>
                </a:solidFill>
                <a:latin typeface="DejaVu Sans"/>
                <a:ea typeface="DejaVu Sans"/>
                <a:cs typeface="DejaVu Sans"/>
              </a:defRPr>
            </a:pPr>
            <a:r>
              <a:rPr sz="2025" b="0">
                <a:solidFill>
                  <a:srgbClr val="6756A7"/>
                </a:solidFill>
                <a:latin typeface="DejaVu Sans"/>
                <a:ea typeface="DejaVu Sans"/>
                <a:cs typeface="DejaVu Sans"/>
              </a:rPr>
              <a:t>Browser refresh: HTTP polling every 500 ms</a:t>
            </a:r>
          </a:p>
        </p:txBody>
      </p:sp>
    </p:spTree>
    <p:extLst>
      <p:ext uri="{BB962C8B-B14F-4D97-AF65-F5344CB8AC3E}">
        <p14:creationId xmlns:p14="http://schemas.microsoft.com/office/powerpoint/2010/main" val="1571234349"/>
      </p:ext>
    </p:extLst>
  </p:cSld>
</p:sld>
</file>

<file path=ppt/slides/slide7.xml><?xml version="1.0" encoding="utf-8"?>
<p:sld xmlns:p="http://schemas.openxmlformats.org/presentationml/2006/main">
  <p:cSld>
    <p:bg>
      <p:bgPr>
        <a:solidFill xmlns:a="http://schemas.openxmlformats.org/drawingml/2006/main">
          <a:srgbClr val="FCFBF8"/>
        </a:solidFill>
      </p:bgPr>
    </p:bg>
    <p:spTree>
      <p:nvGrpSpPr>
        <p:cNvPr id="1" name=""/>
        <p:cNvGrpSpPr/>
        <p:nvPr/>
      </p:nvGrpSpPr>
      <p:grpSpPr>
        <a:xfrm xmlns:a="http://schemas.openxmlformats.org/drawingml/2006/main"/>
      </p:grpSpPr>
      <p:sp>
        <p:nvSpPr>
          <p:cNvPr id="6" name="text-45">
            <a:extLst xmlns:a="http://schemas.openxmlformats.org/drawingml/2006/main">
              <a:ext uri="{FF2B5EF4-FFF2-40B4-BE49-F238E27FC236}">
                <a16:creationId xmlns:a16="http://schemas.microsoft.com/office/drawing/2014/main" id="{2268DE21-DC50-4FF6-961C-B05CF95EE207}"/>
              </a:ext>
            </a:extLst>
          </p:cNvPr>
          <p:cNvSpPr>
            <a:spLocks xmlns:a="http://schemas.openxmlformats.org/drawingml/2006/main" noGrp="1"/>
          </p:cNvSpPr>
          <p:nvPr/>
        </p:nvSpPr>
        <p:spPr>
          <a:xfrm xmlns:a="http://schemas.openxmlformats.org/drawingml/2006/main">
            <a:off x="628650" y="428625"/>
            <a:ext cx="10953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222B38"/>
                </a:solidFill>
                <a:latin typeface="DejaVu Sans"/>
                <a:ea typeface="DejaVu Sans"/>
                <a:cs typeface="DejaVu Sans"/>
              </a:defRPr>
            </a:defPPr>
          </a:lstStyle>
          <a:p xmlns:a="http://schemas.openxmlformats.org/drawingml/2006/main">
            <a:pPr algn="l">
              <a:defRPr sz="3300" b="1">
                <a:solidFill>
                  <a:srgbClr val="222B38"/>
                </a:solidFill>
                <a:latin typeface="DejaVu Sans"/>
                <a:ea typeface="DejaVu Sans"/>
                <a:cs typeface="DejaVu Sans"/>
              </a:defRPr>
            </a:pPr>
            <a:r>
              <a:rPr sz="3300" b="1">
                <a:solidFill>
                  <a:srgbClr val="222B38"/>
                </a:solidFill>
                <a:latin typeface="DejaVu Sans"/>
                <a:ea typeface="DejaVu Sans"/>
                <a:cs typeface="DejaVu Sans"/>
              </a:rPr>
              <a:t>PipeTalk Web Interface</a:t>
            </a:r>
          </a:p>
        </p:txBody>
      </p:sp>
      <p:sp>
        <p:nvSpPr>
          <p:cNvPr id="2" name="text-46">
            <a:extLst xmlns:a="http://schemas.openxmlformats.org/drawingml/2006/main">
              <a:ext uri="{FF2B5EF4-FFF2-40B4-BE49-F238E27FC236}">
                <a16:creationId xmlns:a16="http://schemas.microsoft.com/office/drawing/2014/main" id="{3A2EA7D1-0260-4BF7-965F-7633FF25D587}"/>
              </a:ext>
            </a:extLst>
          </p:cNvPr>
          <p:cNvSpPr>
            <a:spLocks xmlns:a="http://schemas.openxmlformats.org/drawingml/2006/main" noGrp="1"/>
          </p:cNvSpPr>
          <p:nvPr/>
        </p:nvSpPr>
        <p:spPr>
          <a:xfrm xmlns:a="http://schemas.openxmlformats.org/drawingml/2006/main">
            <a:off x="628650" y="6477000"/>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0">
                <a:solidFill>
                  <a:srgbClr val="697383"/>
                </a:solidFill>
                <a:latin typeface="DejaVu Sans"/>
                <a:ea typeface="DejaVu Sans"/>
                <a:cs typeface="DejaVu Sans"/>
              </a:defRPr>
            </a:defPPr>
          </a:lstStyle>
          <a:p xmlns:a="http://schemas.openxmlformats.org/drawingml/2006/main">
            <a:pPr algn="l">
              <a:defRPr sz="1050" b="0">
                <a:solidFill>
                  <a:srgbClr val="697383"/>
                </a:solidFill>
                <a:latin typeface="DejaVu Sans"/>
                <a:ea typeface="DejaVu Sans"/>
                <a:cs typeface="DejaVu Sans"/>
              </a:defRPr>
            </a:pPr>
            <a:r>
              <a:rPr sz="1050" b="0">
                <a:solidFill>
                  <a:srgbClr val="697383"/>
                </a:solidFill>
                <a:latin typeface="DejaVu Sans"/>
                <a:ea typeface="DejaVu Sans"/>
                <a:cs typeface="DejaVu Sans"/>
              </a:rPr>
              <a:t>PipeTalk  /  OSSP Hackathon Team 8</a:t>
            </a:r>
          </a:p>
        </p:txBody>
      </p:sp>
      <p:sp>
        <p:nvSpPr>
          <p:cNvPr id="3" name="text-47">
            <a:extLst xmlns:a="http://schemas.openxmlformats.org/drawingml/2006/main">
              <a:ext uri="{FF2B5EF4-FFF2-40B4-BE49-F238E27FC236}">
                <a16:creationId xmlns:a16="http://schemas.microsoft.com/office/drawing/2014/main" id="{A0BA335F-3FCF-4628-A11B-82D8C6A48E6A}"/>
              </a:ext>
            </a:extLst>
          </p:cNvPr>
          <p:cNvSpPr>
            <a:spLocks xmlns:a="http://schemas.openxmlformats.org/drawingml/2006/main" noGrp="1"/>
          </p:cNvSpPr>
          <p:nvPr/>
        </p:nvSpPr>
        <p:spPr>
          <a:xfrm xmlns:a="http://schemas.openxmlformats.org/drawingml/2006/main">
            <a:off x="11049000" y="647700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0">
                <a:solidFill>
                  <a:srgbClr val="697383"/>
                </a:solidFill>
                <a:latin typeface="DejaVu Sans"/>
                <a:ea typeface="DejaVu Sans"/>
                <a:cs typeface="DejaVu Sans"/>
              </a:defRPr>
            </a:defPPr>
          </a:lstStyle>
          <a:p xmlns:a="http://schemas.openxmlformats.org/drawingml/2006/main">
            <a:pPr algn="l">
              <a:defRPr sz="1050" b="0">
                <a:solidFill>
                  <a:srgbClr val="697383"/>
                </a:solidFill>
                <a:latin typeface="DejaVu Sans"/>
                <a:ea typeface="DejaVu Sans"/>
                <a:cs typeface="DejaVu Sans"/>
              </a:defRPr>
            </a:pPr>
            <a:r>
              <a:rPr sz="1050" b="0">
                <a:solidFill>
                  <a:srgbClr val="697383"/>
                </a:solidFill>
                <a:latin typeface="DejaVu Sans"/>
                <a:ea typeface="DejaVu Sans"/>
                <a:cs typeface="DejaVu Sans"/>
              </a:rPr>
              <a:t>07</a:t>
            </a:r>
          </a:p>
        </p:txBody>
      </p:sp>
      <p:pic>
        <p:nvPicPr>
          <p:cNvPr id="4" name="">
            <a:extLst xmlns:a="http://schemas.openxmlformats.org/drawingml/2006/main">
              <a:ext uri="{FF2B5EF4-FFF2-40B4-BE49-F238E27FC236}">
                <a16:creationId xmlns:a16="http://schemas.microsoft.com/office/drawing/2014/main" id="{3DA2DA8F-61F7-43A0-B9D2-CBA738733B9A}"/>
              </a:ext>
            </a:extLst>
          </p:cNvPr>
          <p:cNvPicPr>
            <a:picLocks xmlns:a="http://schemas.openxmlformats.org/drawingml/2006/main" noChangeAspect="1"/>
          </p:cNvPicPr>
          <p:nvPr/>
        </p:nvPicPr>
        <p:blipFill>
          <a:blip xmlns:r="http://schemas.openxmlformats.org/officeDocument/2006/relationships" xmlns:a="http://schemas.openxmlformats.org/drawingml/2006/main" r:embed="R35dda9649ec442c4"/>
          <a:stretch xmlns:a="http://schemas.openxmlformats.org/drawingml/2006/main"/>
        </p:blipFill>
        <p:spPr>
          <a:xfrm xmlns:a="http://schemas.openxmlformats.org/drawingml/2006/main">
            <a:off x="1485579" y="1381125"/>
            <a:ext cx="9220841" cy="4476750"/>
          </a:xfrm>
          <a:prstGeom xmlns:a="http://schemas.openxmlformats.org/drawingml/2006/main" prst="rect">
            <a:avLst/>
          </a:prstGeom>
        </p:spPr>
      </p:pic>
      <p:sp>
        <p:nvSpPr>
          <p:cNvPr id="5" name="text-48">
            <a:extLst xmlns:a="http://schemas.openxmlformats.org/drawingml/2006/main">
              <a:ext uri="{FF2B5EF4-FFF2-40B4-BE49-F238E27FC236}">
                <a16:creationId xmlns:a16="http://schemas.microsoft.com/office/drawing/2014/main" id="{7531BDA7-FD62-4A6D-B587-38B4392E824E}"/>
              </a:ext>
            </a:extLst>
          </p:cNvPr>
          <p:cNvSpPr>
            <a:spLocks xmlns:a="http://schemas.openxmlformats.org/drawingml/2006/main" noGrp="1"/>
          </p:cNvSpPr>
          <p:nvPr/>
        </p:nvSpPr>
        <p:spPr>
          <a:xfrm xmlns:a="http://schemas.openxmlformats.org/drawingml/2006/main">
            <a:off x="666750" y="6000750"/>
            <a:ext cx="10763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697383"/>
                </a:solidFill>
                <a:latin typeface="DejaVu Sans"/>
                <a:ea typeface="DejaVu Sans"/>
                <a:cs typeface="DejaVu Sans"/>
              </a:defRPr>
            </a:defPPr>
          </a:lstStyle>
          <a:p xmlns:a="http://schemas.openxmlformats.org/drawingml/2006/main">
            <a:pPr algn="l">
              <a:defRPr sz="1800" b="0">
                <a:solidFill>
                  <a:srgbClr val="697383"/>
                </a:solidFill>
                <a:latin typeface="DejaVu Sans"/>
                <a:ea typeface="DejaVu Sans"/>
                <a:cs typeface="DejaVu Sans"/>
              </a:defRPr>
            </a:pPr>
            <a:r>
              <a:rPr sz="1800" b="0">
                <a:solidFill>
                  <a:srgbClr val="697383"/>
                </a:solidFill>
                <a:latin typeface="DejaVu Sans"/>
                <a:ea typeface="DejaVu Sans"/>
                <a:cs typeface="DejaVu Sans"/>
              </a:rPr>
              <a:t>Two endpoint panels with a transport activity stream</a:t>
            </a:r>
          </a:p>
        </p:txBody>
      </p:sp>
    </p:spTree>
    <p:extLst>
      <p:ext uri="{BB962C8B-B14F-4D97-AF65-F5344CB8AC3E}">
        <p14:creationId xmlns:p14="http://schemas.microsoft.com/office/powerpoint/2010/main" val="285138889"/>
      </p:ext>
    </p:extLst>
  </p:cSld>
</p:sld>
</file>

<file path=ppt/slides/slide8.xml><?xml version="1.0" encoding="utf-8"?>
<p:sld xmlns:p="http://schemas.openxmlformats.org/presentationml/2006/main">
  <p:cSld>
    <p:bg>
      <p:bgPr>
        <a:solidFill xmlns:a="http://schemas.openxmlformats.org/drawingml/2006/main">
          <a:srgbClr val="FCFBF8"/>
        </a:solidFill>
      </p:bgPr>
    </p:bg>
    <p:spTree>
      <p:nvGrpSpPr>
        <p:cNvPr id="1" name=""/>
        <p:cNvGrpSpPr/>
        <p:nvPr/>
      </p:nvGrpSpPr>
      <p:grpSpPr>
        <a:xfrm xmlns:a="http://schemas.openxmlformats.org/drawingml/2006/main"/>
      </p:grpSpPr>
      <p:sp>
        <p:nvSpPr>
          <p:cNvPr id="10" name="text-49">
            <a:extLst xmlns:a="http://schemas.openxmlformats.org/drawingml/2006/main">
              <a:ext uri="{FF2B5EF4-FFF2-40B4-BE49-F238E27FC236}">
                <a16:creationId xmlns:a16="http://schemas.microsoft.com/office/drawing/2014/main" id="{373B6304-E9B0-4EF9-856F-005DC90F818A}"/>
              </a:ext>
            </a:extLst>
          </p:cNvPr>
          <p:cNvSpPr>
            <a:spLocks xmlns:a="http://schemas.openxmlformats.org/drawingml/2006/main" noGrp="1"/>
          </p:cNvSpPr>
          <p:nvPr/>
        </p:nvSpPr>
        <p:spPr>
          <a:xfrm xmlns:a="http://schemas.openxmlformats.org/drawingml/2006/main">
            <a:off x="628650" y="428625"/>
            <a:ext cx="10953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222B38"/>
                </a:solidFill>
                <a:latin typeface="DejaVu Sans"/>
                <a:ea typeface="DejaVu Sans"/>
                <a:cs typeface="DejaVu Sans"/>
              </a:defRPr>
            </a:defPPr>
          </a:lstStyle>
          <a:p xmlns:a="http://schemas.openxmlformats.org/drawingml/2006/main">
            <a:pPr algn="l">
              <a:defRPr sz="3300" b="1">
                <a:solidFill>
                  <a:srgbClr val="222B38"/>
                </a:solidFill>
                <a:latin typeface="DejaVu Sans"/>
                <a:ea typeface="DejaVu Sans"/>
                <a:cs typeface="DejaVu Sans"/>
              </a:defRPr>
            </a:pPr>
            <a:r>
              <a:rPr sz="3300" b="1">
                <a:solidFill>
                  <a:srgbClr val="222B38"/>
                </a:solidFill>
                <a:latin typeface="DejaVu Sans"/>
                <a:ea typeface="DejaVu Sans"/>
                <a:cs typeface="DejaVu Sans"/>
              </a:rPr>
              <a:t>Linux Process Evidence</a:t>
            </a:r>
          </a:p>
        </p:txBody>
      </p:sp>
      <p:sp>
        <p:nvSpPr>
          <p:cNvPr id="2" name="text-50">
            <a:extLst xmlns:a="http://schemas.openxmlformats.org/drawingml/2006/main">
              <a:ext uri="{FF2B5EF4-FFF2-40B4-BE49-F238E27FC236}">
                <a16:creationId xmlns:a16="http://schemas.microsoft.com/office/drawing/2014/main" id="{3ED5028C-90E1-4D8A-89B1-D29CA7C6899B}"/>
              </a:ext>
            </a:extLst>
          </p:cNvPr>
          <p:cNvSpPr>
            <a:spLocks xmlns:a="http://schemas.openxmlformats.org/drawingml/2006/main" noGrp="1"/>
          </p:cNvSpPr>
          <p:nvPr/>
        </p:nvSpPr>
        <p:spPr>
          <a:xfrm xmlns:a="http://schemas.openxmlformats.org/drawingml/2006/main">
            <a:off x="628650" y="6477000"/>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0">
                <a:solidFill>
                  <a:srgbClr val="697383"/>
                </a:solidFill>
                <a:latin typeface="DejaVu Sans"/>
                <a:ea typeface="DejaVu Sans"/>
                <a:cs typeface="DejaVu Sans"/>
              </a:defRPr>
            </a:defPPr>
          </a:lstStyle>
          <a:p xmlns:a="http://schemas.openxmlformats.org/drawingml/2006/main">
            <a:pPr algn="l">
              <a:defRPr sz="1050" b="0">
                <a:solidFill>
                  <a:srgbClr val="697383"/>
                </a:solidFill>
                <a:latin typeface="DejaVu Sans"/>
                <a:ea typeface="DejaVu Sans"/>
                <a:cs typeface="DejaVu Sans"/>
              </a:defRPr>
            </a:pPr>
            <a:r>
              <a:rPr sz="1050" b="0">
                <a:solidFill>
                  <a:srgbClr val="697383"/>
                </a:solidFill>
                <a:latin typeface="DejaVu Sans"/>
                <a:ea typeface="DejaVu Sans"/>
                <a:cs typeface="DejaVu Sans"/>
              </a:rPr>
              <a:t>PipeTalk  /  OSSP Hackathon Team 8</a:t>
            </a:r>
          </a:p>
        </p:txBody>
      </p:sp>
      <p:sp>
        <p:nvSpPr>
          <p:cNvPr id="3" name="text-51">
            <a:extLst xmlns:a="http://schemas.openxmlformats.org/drawingml/2006/main">
              <a:ext uri="{FF2B5EF4-FFF2-40B4-BE49-F238E27FC236}">
                <a16:creationId xmlns:a16="http://schemas.microsoft.com/office/drawing/2014/main" id="{0741BFC3-998C-4E6A-8A9B-D9A529F75A1E}"/>
              </a:ext>
            </a:extLst>
          </p:cNvPr>
          <p:cNvSpPr>
            <a:spLocks xmlns:a="http://schemas.openxmlformats.org/drawingml/2006/main" noGrp="1"/>
          </p:cNvSpPr>
          <p:nvPr/>
        </p:nvSpPr>
        <p:spPr>
          <a:xfrm xmlns:a="http://schemas.openxmlformats.org/drawingml/2006/main">
            <a:off x="11049000" y="647700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0">
                <a:solidFill>
                  <a:srgbClr val="697383"/>
                </a:solidFill>
                <a:latin typeface="DejaVu Sans"/>
                <a:ea typeface="DejaVu Sans"/>
                <a:cs typeface="DejaVu Sans"/>
              </a:defRPr>
            </a:defPPr>
          </a:lstStyle>
          <a:p xmlns:a="http://schemas.openxmlformats.org/drawingml/2006/main">
            <a:pPr algn="l">
              <a:defRPr sz="1050" b="0">
                <a:solidFill>
                  <a:srgbClr val="697383"/>
                </a:solidFill>
                <a:latin typeface="DejaVu Sans"/>
                <a:ea typeface="DejaVu Sans"/>
                <a:cs typeface="DejaVu Sans"/>
              </a:defRPr>
            </a:pPr>
            <a:r>
              <a:rPr sz="1050" b="0">
                <a:solidFill>
                  <a:srgbClr val="697383"/>
                </a:solidFill>
                <a:latin typeface="DejaVu Sans"/>
                <a:ea typeface="DejaVu Sans"/>
                <a:cs typeface="DejaVu Sans"/>
              </a:rPr>
              <a:t>08</a:t>
            </a:r>
          </a:p>
        </p:txBody>
      </p:sp>
      <p:pic>
        <p:nvPicPr>
          <p:cNvPr id="4" name="">
            <a:extLst xmlns:a="http://schemas.openxmlformats.org/drawingml/2006/main">
              <a:ext uri="{FF2B5EF4-FFF2-40B4-BE49-F238E27FC236}">
                <a16:creationId xmlns:a16="http://schemas.microsoft.com/office/drawing/2014/main" id="{4D4125A3-25CA-4573-AC91-2B8505BA4836}"/>
              </a:ext>
            </a:extLst>
          </p:cNvPr>
          <p:cNvPicPr>
            <a:picLocks xmlns:a="http://schemas.openxmlformats.org/drawingml/2006/main" noChangeAspect="1"/>
          </p:cNvPicPr>
          <p:nvPr/>
        </p:nvPicPr>
        <p:blipFill>
          <a:blip xmlns:r="http://schemas.openxmlformats.org/officeDocument/2006/relationships" xmlns:a="http://schemas.openxmlformats.org/drawingml/2006/main" r:embed="Rd9bb0d8f58ba43d0"/>
          <a:stretch xmlns:a="http://schemas.openxmlformats.org/drawingml/2006/main"/>
        </p:blipFill>
        <p:spPr>
          <a:xfrm xmlns:a="http://schemas.openxmlformats.org/drawingml/2006/main">
            <a:off x="628650" y="1756141"/>
            <a:ext cx="10934700" cy="1154968"/>
          </a:xfrm>
          <a:prstGeom xmlns:a="http://schemas.openxmlformats.org/drawingml/2006/main" prst="rect">
            <a:avLst/>
          </a:prstGeom>
        </p:spPr>
      </p:pic>
      <p:sp>
        <p:nvSpPr>
          <p:cNvPr id="5" name="text-52">
            <a:extLst xmlns:a="http://schemas.openxmlformats.org/drawingml/2006/main">
              <a:ext uri="{FF2B5EF4-FFF2-40B4-BE49-F238E27FC236}">
                <a16:creationId xmlns:a16="http://schemas.microsoft.com/office/drawing/2014/main" id="{728CADD5-FB13-40CF-BDA2-0F644E3C81F9}"/>
              </a:ext>
            </a:extLst>
          </p:cNvPr>
          <p:cNvSpPr>
            <a:spLocks xmlns:a="http://schemas.openxmlformats.org/drawingml/2006/main" noGrp="1"/>
          </p:cNvSpPr>
          <p:nvPr/>
        </p:nvSpPr>
        <p:spPr>
          <a:xfrm xmlns:a="http://schemas.openxmlformats.org/drawingml/2006/main">
            <a:off x="666750" y="3571875"/>
            <a:ext cx="4762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000" b="1">
                <a:solidFill>
                  <a:srgbClr val="6756A7"/>
                </a:solidFill>
                <a:latin typeface="DejaVu Sans"/>
                <a:ea typeface="DejaVu Sans"/>
                <a:cs typeface="DejaVu Sans"/>
              </a:defRPr>
            </a:defPPr>
          </a:lstStyle>
          <a:p xmlns:a="http://schemas.openxmlformats.org/drawingml/2006/main">
            <a:pPr algn="l">
              <a:defRPr sz="3000" b="1">
                <a:solidFill>
                  <a:srgbClr val="6756A7"/>
                </a:solidFill>
                <a:latin typeface="DejaVu Sans"/>
                <a:ea typeface="DejaVu Sans"/>
                <a:cs typeface="DejaVu Sans"/>
              </a:defRPr>
            </a:pPr>
            <a:r>
              <a:rPr sz="3000" b="1">
                <a:solidFill>
                  <a:srgbClr val="6756A7"/>
                </a:solidFill>
                <a:latin typeface="DejaVu Sans"/>
                <a:ea typeface="DejaVu Sans"/>
                <a:cs typeface="DejaVu Sans"/>
              </a:rPr>
              <a:t>PID 1270</a:t>
            </a:r>
          </a:p>
        </p:txBody>
      </p:sp>
      <p:sp>
        <p:nvSpPr>
          <p:cNvPr id="6" name="text-53">
            <a:extLst xmlns:a="http://schemas.openxmlformats.org/drawingml/2006/main">
              <a:ext uri="{FF2B5EF4-FFF2-40B4-BE49-F238E27FC236}">
                <a16:creationId xmlns:a16="http://schemas.microsoft.com/office/drawing/2014/main" id="{6A882CAD-1023-4665-BE76-ED5AC787122D}"/>
              </a:ext>
            </a:extLst>
          </p:cNvPr>
          <p:cNvSpPr>
            <a:spLocks xmlns:a="http://schemas.openxmlformats.org/drawingml/2006/main" noGrp="1"/>
          </p:cNvSpPr>
          <p:nvPr/>
        </p:nvSpPr>
        <p:spPr>
          <a:xfrm xmlns:a="http://schemas.openxmlformats.org/drawingml/2006/main">
            <a:off x="666750" y="4191000"/>
            <a:ext cx="4762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0">
                <a:solidFill>
                  <a:srgbClr val="222B38"/>
                </a:solidFill>
                <a:latin typeface="DejaVu Sans"/>
                <a:ea typeface="DejaVu Sans"/>
                <a:cs typeface="DejaVu Sans"/>
              </a:defRPr>
            </a:defPPr>
          </a:lstStyle>
          <a:p xmlns:a="http://schemas.openxmlformats.org/drawingml/2006/main">
            <a:pPr algn="l">
              <a:defRPr sz="2100" b="0">
                <a:solidFill>
                  <a:srgbClr val="222B38"/>
                </a:solidFill>
                <a:latin typeface="DejaVu Sans"/>
                <a:ea typeface="DejaVu Sans"/>
                <a:cs typeface="DejaVu Sans"/>
              </a:defRPr>
            </a:pPr>
            <a:r>
              <a:rPr sz="2100" b="0">
                <a:solidFill>
                  <a:srgbClr val="222B38"/>
                </a:solidFill>
                <a:latin typeface="DejaVu Sans"/>
                <a:ea typeface="DejaVu Sans"/>
                <a:cs typeface="DejaVu Sans"/>
              </a:rPr>
              <a:t>Process A</a:t>
            </a:r>
          </a:p>
        </p:txBody>
      </p:sp>
      <p:sp>
        <p:nvSpPr>
          <p:cNvPr id="7" name="text-54">
            <a:extLst xmlns:a="http://schemas.openxmlformats.org/drawingml/2006/main">
              <a:ext uri="{FF2B5EF4-FFF2-40B4-BE49-F238E27FC236}">
                <a16:creationId xmlns:a16="http://schemas.microsoft.com/office/drawing/2014/main" id="{5FD99BD4-849C-42B2-90A6-3673F5BE98CD}"/>
              </a:ext>
            </a:extLst>
          </p:cNvPr>
          <p:cNvSpPr>
            <a:spLocks xmlns:a="http://schemas.openxmlformats.org/drawingml/2006/main" noGrp="1"/>
          </p:cNvSpPr>
          <p:nvPr/>
        </p:nvSpPr>
        <p:spPr>
          <a:xfrm xmlns:a="http://schemas.openxmlformats.org/drawingml/2006/main">
            <a:off x="6572250" y="3571875"/>
            <a:ext cx="4762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000" b="1">
                <a:solidFill>
                  <a:srgbClr val="6756A7"/>
                </a:solidFill>
                <a:latin typeface="DejaVu Sans"/>
                <a:ea typeface="DejaVu Sans"/>
                <a:cs typeface="DejaVu Sans"/>
              </a:defRPr>
            </a:defPPr>
          </a:lstStyle>
          <a:p xmlns:a="http://schemas.openxmlformats.org/drawingml/2006/main">
            <a:pPr algn="l">
              <a:defRPr sz="3000" b="1">
                <a:solidFill>
                  <a:srgbClr val="6756A7"/>
                </a:solidFill>
                <a:latin typeface="DejaVu Sans"/>
                <a:ea typeface="DejaVu Sans"/>
                <a:cs typeface="DejaVu Sans"/>
              </a:defRPr>
            </a:pPr>
            <a:r>
              <a:rPr sz="3000" b="1">
                <a:solidFill>
                  <a:srgbClr val="6756A7"/>
                </a:solidFill>
                <a:latin typeface="DejaVu Sans"/>
                <a:ea typeface="DejaVu Sans"/>
                <a:cs typeface="DejaVu Sans"/>
              </a:rPr>
              <a:t>PID 1272</a:t>
            </a:r>
          </a:p>
        </p:txBody>
      </p:sp>
      <p:sp>
        <p:nvSpPr>
          <p:cNvPr id="8" name="text-55">
            <a:extLst xmlns:a="http://schemas.openxmlformats.org/drawingml/2006/main">
              <a:ext uri="{FF2B5EF4-FFF2-40B4-BE49-F238E27FC236}">
                <a16:creationId xmlns:a16="http://schemas.microsoft.com/office/drawing/2014/main" id="{0C8943CF-D0CE-4B51-8130-DEFE5A5E0E87}"/>
              </a:ext>
            </a:extLst>
          </p:cNvPr>
          <p:cNvSpPr>
            <a:spLocks xmlns:a="http://schemas.openxmlformats.org/drawingml/2006/main" noGrp="1"/>
          </p:cNvSpPr>
          <p:nvPr/>
        </p:nvSpPr>
        <p:spPr>
          <a:xfrm xmlns:a="http://schemas.openxmlformats.org/drawingml/2006/main">
            <a:off x="6572250" y="4191000"/>
            <a:ext cx="4762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0">
                <a:solidFill>
                  <a:srgbClr val="222B38"/>
                </a:solidFill>
                <a:latin typeface="DejaVu Sans"/>
                <a:ea typeface="DejaVu Sans"/>
                <a:cs typeface="DejaVu Sans"/>
              </a:defRPr>
            </a:defPPr>
          </a:lstStyle>
          <a:p xmlns:a="http://schemas.openxmlformats.org/drawingml/2006/main">
            <a:pPr algn="l">
              <a:defRPr sz="2100" b="0">
                <a:solidFill>
                  <a:srgbClr val="222B38"/>
                </a:solidFill>
                <a:latin typeface="DejaVu Sans"/>
                <a:ea typeface="DejaVu Sans"/>
                <a:cs typeface="DejaVu Sans"/>
              </a:defRPr>
            </a:pPr>
            <a:r>
              <a:rPr sz="2100" b="0">
                <a:solidFill>
                  <a:srgbClr val="222B38"/>
                </a:solidFill>
                <a:latin typeface="DejaVu Sans"/>
                <a:ea typeface="DejaVu Sans"/>
                <a:cs typeface="DejaVu Sans"/>
              </a:rPr>
              <a:t>Process B</a:t>
            </a:r>
          </a:p>
        </p:txBody>
      </p:sp>
      <p:sp>
        <p:nvSpPr>
          <p:cNvPr id="9" name="text-56">
            <a:extLst xmlns:a="http://schemas.openxmlformats.org/drawingml/2006/main">
              <a:ext uri="{FF2B5EF4-FFF2-40B4-BE49-F238E27FC236}">
                <a16:creationId xmlns:a16="http://schemas.microsoft.com/office/drawing/2014/main" id="{3EE99210-0FE9-426E-BE34-68D3B9A452E3}"/>
              </a:ext>
            </a:extLst>
          </p:cNvPr>
          <p:cNvSpPr>
            <a:spLocks xmlns:a="http://schemas.openxmlformats.org/drawingml/2006/main" noGrp="1"/>
          </p:cNvSpPr>
          <p:nvPr/>
        </p:nvSpPr>
        <p:spPr>
          <a:xfrm xmlns:a="http://schemas.openxmlformats.org/drawingml/2006/main">
            <a:off x="666750" y="5095875"/>
            <a:ext cx="10668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697383"/>
                </a:solidFill>
                <a:latin typeface="DejaVu Sans"/>
                <a:ea typeface="DejaVu Sans"/>
                <a:cs typeface="DejaVu Sans"/>
              </a:defRPr>
            </a:defPPr>
          </a:lstStyle>
          <a:p xmlns:a="http://schemas.openxmlformats.org/drawingml/2006/main">
            <a:pPr algn="l">
              <a:defRPr sz="2025" b="0">
                <a:solidFill>
                  <a:srgbClr val="697383"/>
                </a:solidFill>
                <a:latin typeface="DejaVu Sans"/>
                <a:ea typeface="DejaVu Sans"/>
                <a:cs typeface="DejaVu Sans"/>
              </a:defRPr>
            </a:pPr>
            <a:r>
              <a:rPr sz="2025" b="0">
                <a:solidFill>
                  <a:srgbClr val="697383"/>
                </a:solidFill>
                <a:latin typeface="DejaVu Sans"/>
                <a:ea typeface="DejaVu Sans"/>
                <a:cs typeface="DejaVu Sans"/>
              </a:rPr>
              <a:t>Parent PID 1261 launches both peers.</a:t>
            </a:r>
          </a:p>
          <a:p xmlns:a="http://schemas.openxmlformats.org/drawingml/2006/main">
            <a:pPr algn="l">
              <a:defRPr sz="2025" b="0">
                <a:solidFill>
                  <a:srgbClr val="697383"/>
                </a:solidFill>
                <a:latin typeface="DejaVu Sans"/>
                <a:ea typeface="DejaVu Sans"/>
                <a:cs typeface="DejaVu Sans"/>
              </a:defRPr>
            </a:pPr>
            <a:r>
              <a:rPr sz="2025" b="0">
                <a:solidFill>
                  <a:srgbClr val="697383"/>
                </a:solidFill>
                <a:latin typeface="DejaVu Sans"/>
                <a:ea typeface="DejaVu Sans"/>
                <a:cs typeface="DejaVu Sans"/>
              </a:rPr>
              <a:t>Their arguments identify the real FIFO paths.</a:t>
            </a:r>
          </a:p>
        </p:txBody>
      </p:sp>
    </p:spTree>
    <p:extLst>
      <p:ext uri="{BB962C8B-B14F-4D97-AF65-F5344CB8AC3E}">
        <p14:creationId xmlns:p14="http://schemas.microsoft.com/office/powerpoint/2010/main" val="924817652"/>
      </p:ext>
    </p:extLst>
  </p:cSld>
</p:sld>
</file>

<file path=ppt/slides/slide9.xml><?xml version="1.0" encoding="utf-8"?>
<p:sld xmlns:p="http://schemas.openxmlformats.org/presentationml/2006/main">
  <p:cSld>
    <p:bg>
      <p:bgPr>
        <a:solidFill xmlns:a="http://schemas.openxmlformats.org/drawingml/2006/main">
          <a:srgbClr val="FCFBF8"/>
        </a:solidFill>
      </p:bgPr>
    </p:bg>
    <p:spTree>
      <p:nvGrpSpPr>
        <p:cNvPr id="1" name=""/>
        <p:cNvGrpSpPr/>
        <p:nvPr/>
      </p:nvGrpSpPr>
      <p:grpSpPr>
        <a:xfrm xmlns:a="http://schemas.openxmlformats.org/drawingml/2006/main"/>
      </p:grpSpPr>
      <p:sp>
        <p:nvSpPr>
          <p:cNvPr id="7" name="text-57">
            <a:extLst xmlns:a="http://schemas.openxmlformats.org/drawingml/2006/main">
              <a:ext uri="{FF2B5EF4-FFF2-40B4-BE49-F238E27FC236}">
                <a16:creationId xmlns:a16="http://schemas.microsoft.com/office/drawing/2014/main" id="{6A047FB9-6B8A-4D4D-A115-1F736285D64F}"/>
              </a:ext>
            </a:extLst>
          </p:cNvPr>
          <p:cNvSpPr>
            <a:spLocks xmlns:a="http://schemas.openxmlformats.org/drawingml/2006/main" noGrp="1"/>
          </p:cNvSpPr>
          <p:nvPr/>
        </p:nvSpPr>
        <p:spPr>
          <a:xfrm xmlns:a="http://schemas.openxmlformats.org/drawingml/2006/main">
            <a:off x="628650" y="428625"/>
            <a:ext cx="10953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222B38"/>
                </a:solidFill>
                <a:latin typeface="DejaVu Sans"/>
                <a:ea typeface="DejaVu Sans"/>
                <a:cs typeface="DejaVu Sans"/>
              </a:defRPr>
            </a:defPPr>
          </a:lstStyle>
          <a:p xmlns:a="http://schemas.openxmlformats.org/drawingml/2006/main">
            <a:pPr algn="l">
              <a:defRPr sz="3300" b="1">
                <a:solidFill>
                  <a:srgbClr val="222B38"/>
                </a:solidFill>
                <a:latin typeface="DejaVu Sans"/>
                <a:ea typeface="DejaVu Sans"/>
                <a:cs typeface="DejaVu Sans"/>
              </a:defRPr>
            </a:pPr>
            <a:r>
              <a:rPr sz="3300" b="1">
                <a:solidFill>
                  <a:srgbClr val="222B38"/>
                </a:solidFill>
                <a:latin typeface="DejaVu Sans"/>
                <a:ea typeface="DejaVu Sans"/>
                <a:cs typeface="DejaVu Sans"/>
              </a:rPr>
              <a:t>Testing and Verification</a:t>
            </a:r>
          </a:p>
        </p:txBody>
      </p:sp>
      <p:sp>
        <p:nvSpPr>
          <p:cNvPr id="2" name="text-58">
            <a:extLst xmlns:a="http://schemas.openxmlformats.org/drawingml/2006/main">
              <a:ext uri="{FF2B5EF4-FFF2-40B4-BE49-F238E27FC236}">
                <a16:creationId xmlns:a16="http://schemas.microsoft.com/office/drawing/2014/main" id="{FD23E71A-DFF3-4FEC-8C41-F3362148B143}"/>
              </a:ext>
            </a:extLst>
          </p:cNvPr>
          <p:cNvSpPr>
            <a:spLocks xmlns:a="http://schemas.openxmlformats.org/drawingml/2006/main" noGrp="1"/>
          </p:cNvSpPr>
          <p:nvPr/>
        </p:nvSpPr>
        <p:spPr>
          <a:xfrm xmlns:a="http://schemas.openxmlformats.org/drawingml/2006/main">
            <a:off x="628650" y="6477000"/>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0">
                <a:solidFill>
                  <a:srgbClr val="697383"/>
                </a:solidFill>
                <a:latin typeface="DejaVu Sans"/>
                <a:ea typeface="DejaVu Sans"/>
                <a:cs typeface="DejaVu Sans"/>
              </a:defRPr>
            </a:defPPr>
          </a:lstStyle>
          <a:p xmlns:a="http://schemas.openxmlformats.org/drawingml/2006/main">
            <a:pPr algn="l">
              <a:defRPr sz="1050" b="0">
                <a:solidFill>
                  <a:srgbClr val="697383"/>
                </a:solidFill>
                <a:latin typeface="DejaVu Sans"/>
                <a:ea typeface="DejaVu Sans"/>
                <a:cs typeface="DejaVu Sans"/>
              </a:defRPr>
            </a:pPr>
            <a:r>
              <a:rPr sz="1050" b="0">
                <a:solidFill>
                  <a:srgbClr val="697383"/>
                </a:solidFill>
                <a:latin typeface="DejaVu Sans"/>
                <a:ea typeface="DejaVu Sans"/>
                <a:cs typeface="DejaVu Sans"/>
              </a:rPr>
              <a:t>PipeTalk  /  OSSP Hackathon Team 8</a:t>
            </a:r>
          </a:p>
        </p:txBody>
      </p:sp>
      <p:sp>
        <p:nvSpPr>
          <p:cNvPr id="3" name="text-59">
            <a:extLst xmlns:a="http://schemas.openxmlformats.org/drawingml/2006/main">
              <a:ext uri="{FF2B5EF4-FFF2-40B4-BE49-F238E27FC236}">
                <a16:creationId xmlns:a16="http://schemas.microsoft.com/office/drawing/2014/main" id="{0592A3D7-FECF-49D9-BD2B-66D19E91289F}"/>
              </a:ext>
            </a:extLst>
          </p:cNvPr>
          <p:cNvSpPr>
            <a:spLocks xmlns:a="http://schemas.openxmlformats.org/drawingml/2006/main" noGrp="1"/>
          </p:cNvSpPr>
          <p:nvPr/>
        </p:nvSpPr>
        <p:spPr>
          <a:xfrm xmlns:a="http://schemas.openxmlformats.org/drawingml/2006/main">
            <a:off x="11049000" y="647700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0">
                <a:solidFill>
                  <a:srgbClr val="697383"/>
                </a:solidFill>
                <a:latin typeface="DejaVu Sans"/>
                <a:ea typeface="DejaVu Sans"/>
                <a:cs typeface="DejaVu Sans"/>
              </a:defRPr>
            </a:defPPr>
          </a:lstStyle>
          <a:p xmlns:a="http://schemas.openxmlformats.org/drawingml/2006/main">
            <a:pPr algn="l">
              <a:defRPr sz="1050" b="0">
                <a:solidFill>
                  <a:srgbClr val="697383"/>
                </a:solidFill>
                <a:latin typeface="DejaVu Sans"/>
                <a:ea typeface="DejaVu Sans"/>
                <a:cs typeface="DejaVu Sans"/>
              </a:defRPr>
            </a:pPr>
            <a:r>
              <a:rPr sz="1050" b="0">
                <a:solidFill>
                  <a:srgbClr val="697383"/>
                </a:solidFill>
                <a:latin typeface="DejaVu Sans"/>
                <a:ea typeface="DejaVu Sans"/>
                <a:cs typeface="DejaVu Sans"/>
              </a:rPr>
              <a:t>09</a:t>
            </a:r>
          </a:p>
        </p:txBody>
      </p:sp>
      <p:graphicFrame>
        <p:nvGraphicFramePr>
          <p:cNvPr id="4" name="">
            <a:extLst xmlns:a="http://schemas.openxmlformats.org/drawingml/2006/main">
              <a:ext uri="{FF2B5EF4-FFF2-40B4-BE49-F238E27FC236}">
                <a16:creationId xmlns:a16="http://schemas.microsoft.com/office/drawing/2014/main" id="{39E5645D-291B-4CC7-AEB2-24E511DFB91E}"/>
              </a:ext>
            </a:extLst>
          </p:cNvPr>
          <p:cNvGraphicFramePr/>
          <p:nvPr/>
        </p:nvGraphicFramePr>
        <p:xfrm>
          <a:off xmlns:a="http://schemas.openxmlformats.org/drawingml/2006/main" x="628650" y="1428750"/>
          <a:ext xmlns:a="http://schemas.openxmlformats.org/drawingml/2006/main" cx="10934700" cy="3667125"/>
        </p:xfrm>
        <a:graphic xmlns:a="http://schemas.openxmlformats.org/drawingml/2006/main">
          <a:graphicData uri="http://schemas.openxmlformats.org/drawingml/2006/table">
            <a:tbl>
              <a:tblPr/>
              <a:tblGrid>
                <a:gridCol w="2476500"/>
                <a:gridCol w="7143750"/>
                <a:gridCol w="1314450"/>
              </a:tblGrid>
              <a:tr h="611188">
                <a:tc>
                  <a:txBody>
                    <a:bodyPr lIns="152400" tIns="123825" rIns="114300" bIns="95250">
                      <a:noAutofit/>
                    </a:bodyPr>
                    <a:lstStyle/>
                    <a:p>
                      <a:r>
                        <a:rPr sz="1800" b="1">
                          <a:solidFill>
                            <a:srgbClr val="FFFFFF"/>
                          </a:solidFill>
                          <a:latin typeface="DejaVu Sans"/>
                          <a:ea typeface="DejaVu Sans"/>
                          <a:cs typeface="DejaVu Sans"/>
                        </a:rPr>
                        <a:t>Test area</a:t>
                      </a:r>
                    </a:p>
                  </a:txBody>
                  <a:tcPr marL="91440" marR="91440" marT="45720" marB="45720" anchor="ctr">
                    <a:lnL w="9525">
                      <a:solidFill>
                        <a:srgbClr val="D9DBE1"/>
                      </a:solidFill>
                      <a:prstDash val="solid"/>
                    </a:lnL>
                    <a:lnR w="9525">
                      <a:solidFill>
                        <a:srgbClr val="D9DBE1"/>
                      </a:solidFill>
                      <a:prstDash val="solid"/>
                    </a:lnR>
                    <a:lnT w="9525">
                      <a:solidFill>
                        <a:srgbClr val="D9DBE1"/>
                      </a:solidFill>
                      <a:prstDash val="solid"/>
                    </a:lnT>
                    <a:lnB w="9525">
                      <a:solidFill>
                        <a:srgbClr val="D9DBE1"/>
                      </a:solidFill>
                      <a:prstDash val="solid"/>
                    </a:lnB>
                    <a:solidFill>
                      <a:srgbClr val="333B4B"/>
                    </a:solidFill>
                  </a:tcPr>
                </a:tc>
                <a:tc>
                  <a:txBody>
                    <a:bodyPr lIns="152400" tIns="123825" rIns="114300" bIns="95250">
                      <a:noAutofit/>
                    </a:bodyPr>
                    <a:lstStyle/>
                    <a:p>
                      <a:r>
                        <a:rPr sz="1800" b="1">
                          <a:solidFill>
                            <a:srgbClr val="FFFFFF"/>
                          </a:solidFill>
                          <a:latin typeface="DejaVu Sans"/>
                          <a:ea typeface="DejaVu Sans"/>
                          <a:cs typeface="DejaVu Sans"/>
                        </a:rPr>
                        <a:t>Coverage</a:t>
                      </a:r>
                    </a:p>
                  </a:txBody>
                  <a:tcPr marL="91440" marR="91440" marT="45720" marB="45720" anchor="ctr">
                    <a:lnR w="9525">
                      <a:solidFill>
                        <a:srgbClr val="D9DBE1"/>
                      </a:solidFill>
                      <a:prstDash val="solid"/>
                    </a:lnR>
                    <a:lnT w="9525">
                      <a:solidFill>
                        <a:srgbClr val="D9DBE1"/>
                      </a:solidFill>
                      <a:prstDash val="solid"/>
                    </a:lnT>
                    <a:lnB w="9525">
                      <a:solidFill>
                        <a:srgbClr val="D9DBE1"/>
                      </a:solidFill>
                      <a:prstDash val="solid"/>
                    </a:lnB>
                    <a:solidFill>
                      <a:srgbClr val="333B4B"/>
                    </a:solidFill>
                  </a:tcPr>
                </a:tc>
                <a:tc>
                  <a:txBody>
                    <a:bodyPr lIns="152400" tIns="123825" rIns="114300" bIns="95250">
                      <a:noAutofit/>
                    </a:bodyPr>
                    <a:lstStyle/>
                    <a:p>
                      <a:r>
                        <a:rPr sz="1800" b="1">
                          <a:solidFill>
                            <a:srgbClr val="FFFFFF"/>
                          </a:solidFill>
                          <a:latin typeface="DejaVu Sans"/>
                          <a:ea typeface="DejaVu Sans"/>
                          <a:cs typeface="DejaVu Sans"/>
                        </a:rPr>
                        <a:t>Result</a:t>
                      </a:r>
                    </a:p>
                  </a:txBody>
                  <a:tcPr marL="91440" marR="91440" marT="45720" marB="45720" anchor="ctr">
                    <a:lnR w="9525">
                      <a:solidFill>
                        <a:srgbClr val="D9DBE1"/>
                      </a:solidFill>
                      <a:prstDash val="solid"/>
                    </a:lnR>
                    <a:lnT w="9525">
                      <a:solidFill>
                        <a:srgbClr val="D9DBE1"/>
                      </a:solidFill>
                      <a:prstDash val="solid"/>
                    </a:lnT>
                    <a:lnB w="9525">
                      <a:solidFill>
                        <a:srgbClr val="D9DBE1"/>
                      </a:solidFill>
                      <a:prstDash val="solid"/>
                    </a:lnB>
                    <a:solidFill>
                      <a:srgbClr val="333B4B"/>
                    </a:solidFill>
                  </a:tcPr>
                </a:tc>
              </a:tr>
              <a:tr h="611188">
                <a:tc>
                  <a:txBody>
                    <a:bodyPr lIns="152400" tIns="123825" rIns="114300" bIns="95250">
                      <a:noAutofit/>
                    </a:bodyPr>
                    <a:lstStyle/>
                    <a:p>
                      <a:r>
                        <a:rPr sz="1800" b="0">
                          <a:solidFill>
                            <a:srgbClr val="222B38"/>
                          </a:solidFill>
                          <a:latin typeface="DejaVu Sans"/>
                          <a:ea typeface="DejaVu Sans"/>
                          <a:cs typeface="DejaVu Sans"/>
                        </a:rPr>
                        <a:t>IPC transport</a:t>
                      </a:r>
                    </a:p>
                  </a:txBody>
                  <a:tcPr marL="91440" marR="91440" marT="45720" marB="45720" anchor="ctr">
                    <a:lnL w="9525">
                      <a:solidFill>
                        <a:srgbClr val="D9DBE1"/>
                      </a:solidFill>
                      <a:prstDash val="solid"/>
                    </a:lnL>
                    <a:lnR w="9525">
                      <a:solidFill>
                        <a:srgbClr val="D9DBE1"/>
                      </a:solidFill>
                      <a:prstDash val="solid"/>
                    </a:lnR>
                    <a:lnB w="9525">
                      <a:solidFill>
                        <a:srgbClr val="D9DBE1"/>
                      </a:solidFill>
                      <a:prstDash val="solid"/>
                    </a:lnB>
                    <a:solidFill>
                      <a:srgbClr val="FFFFFF"/>
                    </a:solidFill>
                  </a:tcPr>
                </a:tc>
                <a:tc>
                  <a:txBody>
                    <a:bodyPr lIns="152400" tIns="123825" rIns="114300" bIns="95250">
                      <a:noAutofit/>
                    </a:bodyPr>
                    <a:lstStyle/>
                    <a:p>
                      <a:r>
                        <a:rPr sz="1800" b="0">
                          <a:solidFill>
                            <a:srgbClr val="222B38"/>
                          </a:solidFill>
                          <a:latin typeface="DejaVu Sans"/>
                          <a:ea typeface="DejaVu Sans"/>
                          <a:cs typeface="DejaVu Sans"/>
                        </a:rPr>
                        <a:t>Distinct PIDs, FIFOs and two-way delivery</a:t>
                      </a:r>
                    </a:p>
                  </a:txBody>
                  <a:tcPr marL="91440" marR="91440" marT="45720" marB="45720" anchor="ctr">
                    <a:lnR w="9525">
                      <a:solidFill>
                        <a:srgbClr val="D9DBE1"/>
                      </a:solidFill>
                      <a:prstDash val="solid"/>
                    </a:lnR>
                    <a:lnB w="9525">
                      <a:solidFill>
                        <a:srgbClr val="D9DBE1"/>
                      </a:solidFill>
                      <a:prstDash val="solid"/>
                    </a:lnB>
                    <a:solidFill>
                      <a:srgbClr val="FFFFFF"/>
                    </a:solidFill>
                  </a:tcPr>
                </a:tc>
                <a:tc>
                  <a:txBody>
                    <a:bodyPr lIns="152400" tIns="123825" rIns="114300" bIns="95250">
                      <a:noAutofit/>
                    </a:bodyPr>
                    <a:lstStyle/>
                    <a:p>
                      <a:r>
                        <a:rPr sz="1800" b="0">
                          <a:solidFill>
                            <a:srgbClr val="222B38"/>
                          </a:solidFill>
                          <a:latin typeface="DejaVu Sans"/>
                          <a:ea typeface="DejaVu Sans"/>
                          <a:cs typeface="DejaVu Sans"/>
                        </a:rPr>
                        <a:t>Pass</a:t>
                      </a:r>
                    </a:p>
                  </a:txBody>
                  <a:tcPr marL="91440" marR="91440" marT="45720" marB="45720" anchor="ctr">
                    <a:lnR w="9525">
                      <a:solidFill>
                        <a:srgbClr val="D9DBE1"/>
                      </a:solidFill>
                      <a:prstDash val="solid"/>
                    </a:lnR>
                    <a:lnB w="9525">
                      <a:solidFill>
                        <a:srgbClr val="D9DBE1"/>
                      </a:solidFill>
                      <a:prstDash val="solid"/>
                    </a:lnB>
                    <a:solidFill>
                      <a:srgbClr val="FFFFFF"/>
                    </a:solidFill>
                  </a:tcPr>
                </a:tc>
              </a:tr>
              <a:tr h="611188">
                <a:tc>
                  <a:txBody>
                    <a:bodyPr lIns="152400" tIns="123825" rIns="114300" bIns="95250">
                      <a:noAutofit/>
                    </a:bodyPr>
                    <a:lstStyle/>
                    <a:p>
                      <a:r>
                        <a:rPr sz="1800" b="0">
                          <a:solidFill>
                            <a:srgbClr val="222B38"/>
                          </a:solidFill>
                          <a:latin typeface="DejaVu Sans"/>
                          <a:ea typeface="DejaVu Sans"/>
                          <a:cs typeface="DejaVu Sans"/>
                        </a:rPr>
                        <a:t>Text and input</a:t>
                      </a:r>
                    </a:p>
                  </a:txBody>
                  <a:tcPr marL="91440" marR="91440" marT="45720" marB="45720" anchor="ctr">
                    <a:lnL w="9525">
                      <a:solidFill>
                        <a:srgbClr val="D9DBE1"/>
                      </a:solidFill>
                      <a:prstDash val="solid"/>
                    </a:lnL>
                    <a:lnR w="9525">
                      <a:solidFill>
                        <a:srgbClr val="D9DBE1"/>
                      </a:solidFill>
                      <a:prstDash val="solid"/>
                    </a:lnR>
                    <a:lnB w="9525">
                      <a:solidFill>
                        <a:srgbClr val="D9DBE1"/>
                      </a:solidFill>
                      <a:prstDash val="solid"/>
                    </a:lnB>
                    <a:solidFill>
                      <a:srgbClr val="F1F0F6"/>
                    </a:solidFill>
                  </a:tcPr>
                </a:tc>
                <a:tc>
                  <a:txBody>
                    <a:bodyPr lIns="152400" tIns="123825" rIns="114300" bIns="95250">
                      <a:noAutofit/>
                    </a:bodyPr>
                    <a:lstStyle/>
                    <a:p>
                      <a:r>
                        <a:rPr sz="1800" b="0">
                          <a:solidFill>
                            <a:srgbClr val="222B38"/>
                          </a:solidFill>
                          <a:latin typeface="DejaVu Sans"/>
                          <a:ea typeface="DejaVu Sans"/>
                          <a:cs typeface="DejaVu Sans"/>
                        </a:rPr>
                        <a:t>Unicode, multiline text and validation</a:t>
                      </a:r>
                    </a:p>
                  </a:txBody>
                  <a:tcPr marL="91440" marR="91440" marT="45720" marB="45720" anchor="ctr">
                    <a:lnR w="9525">
                      <a:solidFill>
                        <a:srgbClr val="D9DBE1"/>
                      </a:solidFill>
                      <a:prstDash val="solid"/>
                    </a:lnR>
                    <a:lnB w="9525">
                      <a:solidFill>
                        <a:srgbClr val="D9DBE1"/>
                      </a:solidFill>
                      <a:prstDash val="solid"/>
                    </a:lnB>
                    <a:solidFill>
                      <a:srgbClr val="F1F0F6"/>
                    </a:solidFill>
                  </a:tcPr>
                </a:tc>
                <a:tc>
                  <a:txBody>
                    <a:bodyPr lIns="152400" tIns="123825" rIns="114300" bIns="95250">
                      <a:noAutofit/>
                    </a:bodyPr>
                    <a:lstStyle/>
                    <a:p>
                      <a:r>
                        <a:rPr sz="1800" b="0">
                          <a:solidFill>
                            <a:srgbClr val="222B38"/>
                          </a:solidFill>
                          <a:latin typeface="DejaVu Sans"/>
                          <a:ea typeface="DejaVu Sans"/>
                          <a:cs typeface="DejaVu Sans"/>
                        </a:rPr>
                        <a:t>Pass</a:t>
                      </a:r>
                    </a:p>
                  </a:txBody>
                  <a:tcPr marL="91440" marR="91440" marT="45720" marB="45720" anchor="ctr">
                    <a:lnR w="9525">
                      <a:solidFill>
                        <a:srgbClr val="D9DBE1"/>
                      </a:solidFill>
                      <a:prstDash val="solid"/>
                    </a:lnR>
                    <a:lnB w="9525">
                      <a:solidFill>
                        <a:srgbClr val="D9DBE1"/>
                      </a:solidFill>
                      <a:prstDash val="solid"/>
                    </a:lnB>
                    <a:solidFill>
                      <a:srgbClr val="F1F0F6"/>
                    </a:solidFill>
                  </a:tcPr>
                </a:tc>
              </a:tr>
              <a:tr h="611188">
                <a:tc>
                  <a:txBody>
                    <a:bodyPr lIns="152400" tIns="123825" rIns="114300" bIns="95250">
                      <a:noAutofit/>
                    </a:bodyPr>
                    <a:lstStyle/>
                    <a:p>
                      <a:r>
                        <a:rPr sz="1800" b="0">
                          <a:solidFill>
                            <a:srgbClr val="222B38"/>
                          </a:solidFill>
                          <a:latin typeface="DejaVu Sans"/>
                          <a:ea typeface="DejaVu Sans"/>
                          <a:cs typeface="DejaVu Sans"/>
                        </a:rPr>
                        <a:t>Concurrent messages</a:t>
                      </a:r>
                    </a:p>
                  </a:txBody>
                  <a:tcPr marL="91440" marR="91440" marT="45720" marB="45720" anchor="ctr">
                    <a:lnL w="9525">
                      <a:solidFill>
                        <a:srgbClr val="D9DBE1"/>
                      </a:solidFill>
                      <a:prstDash val="solid"/>
                    </a:lnL>
                    <a:lnR w="9525">
                      <a:solidFill>
                        <a:srgbClr val="D9DBE1"/>
                      </a:solidFill>
                      <a:prstDash val="solid"/>
                    </a:lnR>
                    <a:lnB w="9525">
                      <a:solidFill>
                        <a:srgbClr val="D9DBE1"/>
                      </a:solidFill>
                      <a:prstDash val="solid"/>
                    </a:lnB>
                    <a:solidFill>
                      <a:srgbClr val="FFFFFF"/>
                    </a:solidFill>
                  </a:tcPr>
                </a:tc>
                <a:tc>
                  <a:txBody>
                    <a:bodyPr lIns="152400" tIns="123825" rIns="114300" bIns="95250">
                      <a:noAutofit/>
                    </a:bodyPr>
                    <a:lstStyle/>
                    <a:p>
                      <a:r>
                        <a:rPr sz="1800" b="0">
                          <a:solidFill>
                            <a:srgbClr val="222B38"/>
                          </a:solidFill>
                          <a:latin typeface="DejaVu Sans"/>
                          <a:ea typeface="DejaVu Sans"/>
                          <a:cs typeface="DejaVu Sans"/>
                        </a:rPr>
                        <a:t>20 alternating submissions, six threads</a:t>
                      </a:r>
                    </a:p>
                  </a:txBody>
                  <a:tcPr marL="91440" marR="91440" marT="45720" marB="45720" anchor="ctr">
                    <a:lnR w="9525">
                      <a:solidFill>
                        <a:srgbClr val="D9DBE1"/>
                      </a:solidFill>
                      <a:prstDash val="solid"/>
                    </a:lnR>
                    <a:lnB w="9525">
                      <a:solidFill>
                        <a:srgbClr val="D9DBE1"/>
                      </a:solidFill>
                      <a:prstDash val="solid"/>
                    </a:lnB>
                    <a:solidFill>
                      <a:srgbClr val="FFFFFF"/>
                    </a:solidFill>
                  </a:tcPr>
                </a:tc>
                <a:tc>
                  <a:txBody>
                    <a:bodyPr lIns="152400" tIns="123825" rIns="114300" bIns="95250">
                      <a:noAutofit/>
                    </a:bodyPr>
                    <a:lstStyle/>
                    <a:p>
                      <a:r>
                        <a:rPr sz="1800" b="0">
                          <a:solidFill>
                            <a:srgbClr val="222B38"/>
                          </a:solidFill>
                          <a:latin typeface="DejaVu Sans"/>
                          <a:ea typeface="DejaVu Sans"/>
                          <a:cs typeface="DejaVu Sans"/>
                        </a:rPr>
                        <a:t>Pass</a:t>
                      </a:r>
                    </a:p>
                  </a:txBody>
                  <a:tcPr marL="91440" marR="91440" marT="45720" marB="45720" anchor="ctr">
                    <a:lnR w="9525">
                      <a:solidFill>
                        <a:srgbClr val="D9DBE1"/>
                      </a:solidFill>
                      <a:prstDash val="solid"/>
                    </a:lnR>
                    <a:lnB w="9525">
                      <a:solidFill>
                        <a:srgbClr val="D9DBE1"/>
                      </a:solidFill>
                      <a:prstDash val="solid"/>
                    </a:lnB>
                    <a:solidFill>
                      <a:srgbClr val="FFFFFF"/>
                    </a:solidFill>
                  </a:tcPr>
                </a:tc>
              </a:tr>
              <a:tr h="611188">
                <a:tc>
                  <a:txBody>
                    <a:bodyPr lIns="152400" tIns="123825" rIns="114300" bIns="95250">
                      <a:noAutofit/>
                    </a:bodyPr>
                    <a:lstStyle/>
                    <a:p>
                      <a:r>
                        <a:rPr sz="1800" b="0">
                          <a:solidFill>
                            <a:srgbClr val="222B38"/>
                          </a:solidFill>
                          <a:latin typeface="DejaVu Sans"/>
                          <a:ea typeface="DejaVu Sans"/>
                          <a:cs typeface="DejaVu Sans"/>
                        </a:rPr>
                        <a:t>Lifecycle and export</a:t>
                      </a:r>
                    </a:p>
                  </a:txBody>
                  <a:tcPr marL="91440" marR="91440" marT="45720" marB="45720" anchor="ctr">
                    <a:lnL w="9525">
                      <a:solidFill>
                        <a:srgbClr val="D9DBE1"/>
                      </a:solidFill>
                      <a:prstDash val="solid"/>
                    </a:lnL>
                    <a:lnR w="9525">
                      <a:solidFill>
                        <a:srgbClr val="D9DBE1"/>
                      </a:solidFill>
                      <a:prstDash val="solid"/>
                    </a:lnR>
                    <a:lnB w="9525">
                      <a:solidFill>
                        <a:srgbClr val="D9DBE1"/>
                      </a:solidFill>
                      <a:prstDash val="solid"/>
                    </a:lnB>
                    <a:solidFill>
                      <a:srgbClr val="F1F0F6"/>
                    </a:solidFill>
                  </a:tcPr>
                </a:tc>
                <a:tc>
                  <a:txBody>
                    <a:bodyPr lIns="152400" tIns="123825" rIns="114300" bIns="95250">
                      <a:noAutofit/>
                    </a:bodyPr>
                    <a:lstStyle/>
                    <a:p>
                      <a:r>
                        <a:rPr sz="1800" b="0">
                          <a:solidFill>
                            <a:srgbClr val="222B38"/>
                          </a:solidFill>
                          <a:latin typeface="DejaVu Sans"/>
                          <a:ea typeface="DejaVu Sans"/>
                          <a:cs typeface="DejaVu Sans"/>
                        </a:rPr>
                        <a:t>Peer restart, session export and cleanup</a:t>
                      </a:r>
                    </a:p>
                  </a:txBody>
                  <a:tcPr marL="91440" marR="91440" marT="45720" marB="45720" anchor="ctr">
                    <a:lnR w="9525">
                      <a:solidFill>
                        <a:srgbClr val="D9DBE1"/>
                      </a:solidFill>
                      <a:prstDash val="solid"/>
                    </a:lnR>
                    <a:lnB w="9525">
                      <a:solidFill>
                        <a:srgbClr val="D9DBE1"/>
                      </a:solidFill>
                      <a:prstDash val="solid"/>
                    </a:lnB>
                    <a:solidFill>
                      <a:srgbClr val="F1F0F6"/>
                    </a:solidFill>
                  </a:tcPr>
                </a:tc>
                <a:tc>
                  <a:txBody>
                    <a:bodyPr lIns="152400" tIns="123825" rIns="114300" bIns="95250">
                      <a:noAutofit/>
                    </a:bodyPr>
                    <a:lstStyle/>
                    <a:p>
                      <a:r>
                        <a:rPr sz="1800" b="0">
                          <a:solidFill>
                            <a:srgbClr val="222B38"/>
                          </a:solidFill>
                          <a:latin typeface="DejaVu Sans"/>
                          <a:ea typeface="DejaVu Sans"/>
                          <a:cs typeface="DejaVu Sans"/>
                        </a:rPr>
                        <a:t>Pass</a:t>
                      </a:r>
                    </a:p>
                  </a:txBody>
                  <a:tcPr marL="91440" marR="91440" marT="45720" marB="45720" anchor="ctr">
                    <a:lnR w="9525">
                      <a:solidFill>
                        <a:srgbClr val="D9DBE1"/>
                      </a:solidFill>
                      <a:prstDash val="solid"/>
                    </a:lnR>
                    <a:lnB w="9525">
                      <a:solidFill>
                        <a:srgbClr val="D9DBE1"/>
                      </a:solidFill>
                      <a:prstDash val="solid"/>
                    </a:lnB>
                    <a:solidFill>
                      <a:srgbClr val="F1F0F6"/>
                    </a:solidFill>
                  </a:tcPr>
                </a:tc>
              </a:tr>
              <a:tr h="611188">
                <a:tc>
                  <a:txBody>
                    <a:bodyPr lIns="152400" tIns="123825" rIns="114300" bIns="95250">
                      <a:noAutofit/>
                    </a:bodyPr>
                    <a:lstStyle/>
                    <a:p>
                      <a:r>
                        <a:rPr sz="1800" b="0">
                          <a:solidFill>
                            <a:srgbClr val="222B38"/>
                          </a:solidFill>
                          <a:latin typeface="DejaVu Sans"/>
                          <a:ea typeface="DejaVu Sans"/>
                          <a:cs typeface="DejaVu Sans"/>
                        </a:rPr>
                        <a:t>Launcher checks</a:t>
                      </a:r>
                    </a:p>
                  </a:txBody>
                  <a:tcPr marL="91440" marR="91440" marT="45720" marB="45720" anchor="ctr">
                    <a:lnL w="9525">
                      <a:solidFill>
                        <a:srgbClr val="D9DBE1"/>
                      </a:solidFill>
                      <a:prstDash val="solid"/>
                    </a:lnL>
                    <a:lnR w="9525">
                      <a:solidFill>
                        <a:srgbClr val="D9DBE1"/>
                      </a:solidFill>
                      <a:prstDash val="solid"/>
                    </a:lnR>
                    <a:lnB w="9525">
                      <a:solidFill>
                        <a:srgbClr val="D9DBE1"/>
                      </a:solidFill>
                      <a:prstDash val="solid"/>
                    </a:lnB>
                    <a:solidFill>
                      <a:srgbClr val="FFFFFF"/>
                    </a:solidFill>
                  </a:tcPr>
                </a:tc>
                <a:tc>
                  <a:txBody>
                    <a:bodyPr lIns="152400" tIns="123825" rIns="114300" bIns="95250">
                      <a:noAutofit/>
                    </a:bodyPr>
                    <a:lstStyle/>
                    <a:p>
                      <a:r>
                        <a:rPr sz="1800" b="0">
                          <a:solidFill>
                            <a:srgbClr val="222B38"/>
                          </a:solidFill>
                          <a:latin typeface="DejaVu Sans"/>
                          <a:ea typeface="DejaVu Sans"/>
                          <a:cs typeface="DejaVu Sans"/>
                        </a:rPr>
                        <a:t>Spaces, busy ports and WSL argument contract</a:t>
                      </a:r>
                    </a:p>
                  </a:txBody>
                  <a:tcPr marL="91440" marR="91440" marT="45720" marB="45720" anchor="ctr">
                    <a:lnR w="9525">
                      <a:solidFill>
                        <a:srgbClr val="D9DBE1"/>
                      </a:solidFill>
                      <a:prstDash val="solid"/>
                    </a:lnR>
                    <a:lnB w="9525">
                      <a:solidFill>
                        <a:srgbClr val="D9DBE1"/>
                      </a:solidFill>
                      <a:prstDash val="solid"/>
                    </a:lnB>
                    <a:solidFill>
                      <a:srgbClr val="FFFFFF"/>
                    </a:solidFill>
                  </a:tcPr>
                </a:tc>
                <a:tc>
                  <a:txBody>
                    <a:bodyPr lIns="152400" tIns="123825" rIns="114300" bIns="95250">
                      <a:noAutofit/>
                    </a:bodyPr>
                    <a:lstStyle/>
                    <a:p>
                      <a:r>
                        <a:rPr sz="1800" b="0">
                          <a:solidFill>
                            <a:srgbClr val="222B38"/>
                          </a:solidFill>
                          <a:latin typeface="DejaVu Sans"/>
                          <a:ea typeface="DejaVu Sans"/>
                          <a:cs typeface="DejaVu Sans"/>
                        </a:rPr>
                        <a:t>Pass</a:t>
                      </a:r>
                    </a:p>
                  </a:txBody>
                  <a:tcPr marL="91440" marR="91440" marT="45720" marB="45720" anchor="ctr">
                    <a:lnR w="9525">
                      <a:solidFill>
                        <a:srgbClr val="D9DBE1"/>
                      </a:solidFill>
                      <a:prstDash val="solid"/>
                    </a:lnR>
                    <a:lnB w="9525">
                      <a:solidFill>
                        <a:srgbClr val="D9DBE1"/>
                      </a:solidFill>
                      <a:prstDash val="solid"/>
                    </a:lnB>
                    <a:solidFill>
                      <a:srgbClr val="FFFFFF"/>
                    </a:solidFill>
                  </a:tcPr>
                </a:tc>
              </a:tr>
            </a:tbl>
          </a:graphicData>
        </a:graphic>
      </p:graphicFrame>
      <p:sp>
        <p:nvSpPr>
          <p:cNvPr id="5" name="text-60">
            <a:extLst xmlns:a="http://schemas.openxmlformats.org/drawingml/2006/main">
              <a:ext uri="{FF2B5EF4-FFF2-40B4-BE49-F238E27FC236}">
                <a16:creationId xmlns:a16="http://schemas.microsoft.com/office/drawing/2014/main" id="{4700E824-AA00-400B-8985-54C9F05497FB}"/>
              </a:ext>
            </a:extLst>
          </p:cNvPr>
          <p:cNvSpPr>
            <a:spLocks xmlns:a="http://schemas.openxmlformats.org/drawingml/2006/main" noGrp="1"/>
          </p:cNvSpPr>
          <p:nvPr/>
        </p:nvSpPr>
        <p:spPr>
          <a:xfrm xmlns:a="http://schemas.openxmlformats.org/drawingml/2006/main">
            <a:off x="666750" y="5353050"/>
            <a:ext cx="10668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6756A7"/>
                </a:solidFill>
                <a:latin typeface="DejaVu Sans"/>
                <a:ea typeface="DejaVu Sans"/>
                <a:cs typeface="DejaVu Sans"/>
              </a:defRPr>
            </a:defPPr>
          </a:lstStyle>
          <a:p xmlns:a="http://schemas.openxmlformats.org/drawingml/2006/main">
            <a:pPr algn="l">
              <a:defRPr sz="2325" b="1">
                <a:solidFill>
                  <a:srgbClr val="6756A7"/>
                </a:solidFill>
                <a:latin typeface="DejaVu Sans"/>
                <a:ea typeface="DejaVu Sans"/>
                <a:cs typeface="DejaVu Sans"/>
              </a:defRPr>
            </a:pPr>
            <a:r>
              <a:rPr sz="2325" b="1">
                <a:solidFill>
                  <a:srgbClr val="6756A7"/>
                </a:solidFill>
                <a:latin typeface="DejaVu Sans"/>
                <a:ea typeface="DejaVu Sans"/>
                <a:cs typeface="DejaVu Sans"/>
              </a:rPr>
              <a:t>10 automated checks passed in Linux</a:t>
            </a:r>
          </a:p>
        </p:txBody>
      </p:sp>
      <p:sp>
        <p:nvSpPr>
          <p:cNvPr id="6" name="text-61">
            <a:extLst xmlns:a="http://schemas.openxmlformats.org/drawingml/2006/main">
              <a:ext uri="{FF2B5EF4-FFF2-40B4-BE49-F238E27FC236}">
                <a16:creationId xmlns:a16="http://schemas.microsoft.com/office/drawing/2014/main" id="{BA9E3BFB-9D07-424D-BC71-8D117C53FDCF}"/>
              </a:ext>
            </a:extLst>
          </p:cNvPr>
          <p:cNvSpPr>
            <a:spLocks xmlns:a="http://schemas.openxmlformats.org/drawingml/2006/main" noGrp="1"/>
          </p:cNvSpPr>
          <p:nvPr/>
        </p:nvSpPr>
        <p:spPr>
          <a:xfrm xmlns:a="http://schemas.openxmlformats.org/drawingml/2006/main">
            <a:off x="666750" y="5857875"/>
            <a:ext cx="10668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697383"/>
                </a:solidFill>
                <a:latin typeface="DejaVu Sans"/>
                <a:ea typeface="DejaVu Sans"/>
                <a:cs typeface="DejaVu Sans"/>
              </a:defRPr>
            </a:defPPr>
          </a:lstStyle>
          <a:p xmlns:a="http://schemas.openxmlformats.org/drawingml/2006/main">
            <a:pPr algn="l">
              <a:defRPr sz="1725" b="0">
                <a:solidFill>
                  <a:srgbClr val="697383"/>
                </a:solidFill>
                <a:latin typeface="DejaVu Sans"/>
                <a:ea typeface="DejaVu Sans"/>
                <a:cs typeface="DejaVu Sans"/>
              </a:defRPr>
            </a:pPr>
            <a:r>
              <a:rPr sz="1725" b="0">
                <a:solidFill>
                  <a:srgbClr val="697383"/>
                </a:solidFill>
                <a:latin typeface="DejaVu Sans"/>
                <a:ea typeface="DejaVu Sans"/>
                <a:cs typeface="DejaVu Sans"/>
              </a:rPr>
              <a:t>Windows execution and browser interaction were not automated.</a:t>
            </a:r>
          </a:p>
        </p:txBody>
      </p:sp>
    </p:spTree>
    <p:extLst>
      <p:ext uri="{BB962C8B-B14F-4D97-AF65-F5344CB8AC3E}">
        <p14:creationId xmlns:p14="http://schemas.microsoft.com/office/powerpoint/2010/main" val="851681065"/>
      </p:ext>
    </p:extLst>
  </p:cSld>
</p:sld>
</file>

<file path=ppt/slides/slide10.xml><?xml version="1.0" encoding="utf-8"?>
<p:sld xmlns:p="http://schemas.openxmlformats.org/presentationml/2006/main">
  <p:cSld>
    <p:bg>
      <p:bgPr>
        <a:solidFill xmlns:a="http://schemas.openxmlformats.org/drawingml/2006/main">
          <a:srgbClr val="FCFBF8"/>
        </a:solidFill>
      </p:bgPr>
    </p:bg>
    <p:spTree>
      <p:nvGrpSpPr>
        <p:cNvPr id="1" name=""/>
        <p:cNvGrpSpPr/>
        <p:nvPr/>
      </p:nvGrpSpPr>
      <p:grpSpPr>
        <a:xfrm xmlns:a="http://schemas.openxmlformats.org/drawingml/2006/main"/>
      </p:grpSpPr>
      <p:sp>
        <p:nvSpPr>
          <p:cNvPr id="16" name="text-62">
            <a:extLst xmlns:a="http://schemas.openxmlformats.org/drawingml/2006/main">
              <a:ext uri="{FF2B5EF4-FFF2-40B4-BE49-F238E27FC236}">
                <a16:creationId xmlns:a16="http://schemas.microsoft.com/office/drawing/2014/main" id="{274A8A3B-533D-4B64-88E1-E90CDE018696}"/>
              </a:ext>
            </a:extLst>
          </p:cNvPr>
          <p:cNvSpPr>
            <a:spLocks xmlns:a="http://schemas.openxmlformats.org/drawingml/2006/main" noGrp="1"/>
          </p:cNvSpPr>
          <p:nvPr/>
        </p:nvSpPr>
        <p:spPr>
          <a:xfrm xmlns:a="http://schemas.openxmlformats.org/drawingml/2006/main">
            <a:off x="628650" y="428625"/>
            <a:ext cx="10953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222B38"/>
                </a:solidFill>
                <a:latin typeface="DejaVu Sans"/>
                <a:ea typeface="DejaVu Sans"/>
                <a:cs typeface="DejaVu Sans"/>
              </a:defRPr>
            </a:defPPr>
          </a:lstStyle>
          <a:p xmlns:a="http://schemas.openxmlformats.org/drawingml/2006/main">
            <a:pPr algn="l">
              <a:defRPr sz="3300" b="1">
                <a:solidFill>
                  <a:srgbClr val="222B38"/>
                </a:solidFill>
                <a:latin typeface="DejaVu Sans"/>
                <a:ea typeface="DejaVu Sans"/>
                <a:cs typeface="DejaVu Sans"/>
              </a:defRPr>
            </a:pPr>
            <a:r>
              <a:rPr sz="3300" b="1">
                <a:solidFill>
                  <a:srgbClr val="222B38"/>
                </a:solidFill>
                <a:latin typeface="DejaVu Sans"/>
                <a:ea typeface="DejaVu Sans"/>
                <a:cs typeface="DejaVu Sans"/>
              </a:rPr>
              <a:t>Live Demonstration Procedure</a:t>
            </a:r>
          </a:p>
        </p:txBody>
      </p:sp>
      <p:sp>
        <p:nvSpPr>
          <p:cNvPr id="2" name="text-63">
            <a:extLst xmlns:a="http://schemas.openxmlformats.org/drawingml/2006/main">
              <a:ext uri="{FF2B5EF4-FFF2-40B4-BE49-F238E27FC236}">
                <a16:creationId xmlns:a16="http://schemas.microsoft.com/office/drawing/2014/main" id="{4BDBDEC8-439C-4E47-852D-6983D33EC1BD}"/>
              </a:ext>
            </a:extLst>
          </p:cNvPr>
          <p:cNvSpPr>
            <a:spLocks xmlns:a="http://schemas.openxmlformats.org/drawingml/2006/main" noGrp="1"/>
          </p:cNvSpPr>
          <p:nvPr/>
        </p:nvSpPr>
        <p:spPr>
          <a:xfrm xmlns:a="http://schemas.openxmlformats.org/drawingml/2006/main">
            <a:off x="628650" y="6477000"/>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0">
                <a:solidFill>
                  <a:srgbClr val="697383"/>
                </a:solidFill>
                <a:latin typeface="DejaVu Sans"/>
                <a:ea typeface="DejaVu Sans"/>
                <a:cs typeface="DejaVu Sans"/>
              </a:defRPr>
            </a:defPPr>
          </a:lstStyle>
          <a:p xmlns:a="http://schemas.openxmlformats.org/drawingml/2006/main">
            <a:pPr algn="l">
              <a:defRPr sz="1050" b="0">
                <a:solidFill>
                  <a:srgbClr val="697383"/>
                </a:solidFill>
                <a:latin typeface="DejaVu Sans"/>
                <a:ea typeface="DejaVu Sans"/>
                <a:cs typeface="DejaVu Sans"/>
              </a:defRPr>
            </a:pPr>
            <a:r>
              <a:rPr sz="1050" b="0">
                <a:solidFill>
                  <a:srgbClr val="697383"/>
                </a:solidFill>
                <a:latin typeface="DejaVu Sans"/>
                <a:ea typeface="DejaVu Sans"/>
                <a:cs typeface="DejaVu Sans"/>
              </a:rPr>
              <a:t>PipeTalk  /  OSSP Hackathon Team 8</a:t>
            </a:r>
          </a:p>
        </p:txBody>
      </p:sp>
      <p:sp>
        <p:nvSpPr>
          <p:cNvPr id="3" name="text-64">
            <a:extLst xmlns:a="http://schemas.openxmlformats.org/drawingml/2006/main">
              <a:ext uri="{FF2B5EF4-FFF2-40B4-BE49-F238E27FC236}">
                <a16:creationId xmlns:a16="http://schemas.microsoft.com/office/drawing/2014/main" id="{B353DF56-FC79-4477-8729-EACF1FF62DCC}"/>
              </a:ext>
            </a:extLst>
          </p:cNvPr>
          <p:cNvSpPr>
            <a:spLocks xmlns:a="http://schemas.openxmlformats.org/drawingml/2006/main" noGrp="1"/>
          </p:cNvSpPr>
          <p:nvPr/>
        </p:nvSpPr>
        <p:spPr>
          <a:xfrm xmlns:a="http://schemas.openxmlformats.org/drawingml/2006/main">
            <a:off x="11049000" y="647700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0">
                <a:solidFill>
                  <a:srgbClr val="697383"/>
                </a:solidFill>
                <a:latin typeface="DejaVu Sans"/>
                <a:ea typeface="DejaVu Sans"/>
                <a:cs typeface="DejaVu Sans"/>
              </a:defRPr>
            </a:defPPr>
          </a:lstStyle>
          <a:p xmlns:a="http://schemas.openxmlformats.org/drawingml/2006/main">
            <a:pPr algn="l">
              <a:defRPr sz="1050" b="0">
                <a:solidFill>
                  <a:srgbClr val="697383"/>
                </a:solidFill>
                <a:latin typeface="DejaVu Sans"/>
                <a:ea typeface="DejaVu Sans"/>
                <a:cs typeface="DejaVu Sans"/>
              </a:defRPr>
            </a:pPr>
            <a:r>
              <a:rPr sz="1050" b="0">
                <a:solidFill>
                  <a:srgbClr val="697383"/>
                </a:solidFill>
                <a:latin typeface="DejaVu Sans"/>
                <a:ea typeface="DejaVu Sans"/>
                <a:cs typeface="DejaVu Sans"/>
              </a:rPr>
              <a:t>10</a:t>
            </a:r>
          </a:p>
        </p:txBody>
      </p:sp>
      <p:sp>
        <p:nvSpPr>
          <p:cNvPr id="4" name="text-65">
            <a:extLst xmlns:a="http://schemas.openxmlformats.org/drawingml/2006/main">
              <a:ext uri="{FF2B5EF4-FFF2-40B4-BE49-F238E27FC236}">
                <a16:creationId xmlns:a16="http://schemas.microsoft.com/office/drawing/2014/main" id="{72BF73ED-BA0B-4491-8896-405A495FE332}"/>
              </a:ext>
            </a:extLst>
          </p:cNvPr>
          <p:cNvSpPr>
            <a:spLocks xmlns:a="http://schemas.openxmlformats.org/drawingml/2006/main" noGrp="1"/>
          </p:cNvSpPr>
          <p:nvPr/>
        </p:nvSpPr>
        <p:spPr>
          <a:xfrm xmlns:a="http://schemas.openxmlformats.org/drawingml/2006/main">
            <a:off x="666750" y="1476375"/>
            <a:ext cx="571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000" b="1">
                <a:solidFill>
                  <a:srgbClr val="6756A7"/>
                </a:solidFill>
                <a:latin typeface="DejaVu Sans"/>
                <a:ea typeface="DejaVu Sans"/>
                <a:cs typeface="DejaVu Sans"/>
              </a:defRPr>
            </a:defPPr>
          </a:lstStyle>
          <a:p xmlns:a="http://schemas.openxmlformats.org/drawingml/2006/main">
            <a:pPr algn="l">
              <a:defRPr sz="3000" b="1">
                <a:solidFill>
                  <a:srgbClr val="6756A7"/>
                </a:solidFill>
                <a:latin typeface="DejaVu Sans"/>
                <a:ea typeface="DejaVu Sans"/>
                <a:cs typeface="DejaVu Sans"/>
              </a:defRPr>
            </a:pPr>
            <a:r>
              <a:rPr sz="3000" b="1">
                <a:solidFill>
                  <a:srgbClr val="6756A7"/>
                </a:solidFill>
                <a:latin typeface="DejaVu Sans"/>
                <a:ea typeface="DejaVu Sans"/>
                <a:cs typeface="DejaVu Sans"/>
              </a:rPr>
              <a:t>01</a:t>
            </a:r>
          </a:p>
        </p:txBody>
      </p:sp>
      <p:sp>
        <p:nvSpPr>
          <p:cNvPr id="5" name="text-66">
            <a:extLst xmlns:a="http://schemas.openxmlformats.org/drawingml/2006/main">
              <a:ext uri="{FF2B5EF4-FFF2-40B4-BE49-F238E27FC236}">
                <a16:creationId xmlns:a16="http://schemas.microsoft.com/office/drawing/2014/main" id="{2DF151D2-F161-45E9-B5CC-751C5137AC46}"/>
              </a:ext>
            </a:extLst>
          </p:cNvPr>
          <p:cNvSpPr>
            <a:spLocks xmlns:a="http://schemas.openxmlformats.org/drawingml/2006/main" noGrp="1"/>
          </p:cNvSpPr>
          <p:nvPr/>
        </p:nvSpPr>
        <p:spPr>
          <a:xfrm xmlns:a="http://schemas.openxmlformats.org/drawingml/2006/main">
            <a:off x="1476375" y="1476375"/>
            <a:ext cx="9810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1">
                <a:solidFill>
                  <a:srgbClr val="222B38"/>
                </a:solidFill>
                <a:latin typeface="DejaVu Sans"/>
                <a:ea typeface="DejaVu Sans"/>
                <a:cs typeface="DejaVu Sans"/>
              </a:defRPr>
            </a:defPPr>
          </a:lstStyle>
          <a:p xmlns:a="http://schemas.openxmlformats.org/drawingml/2006/main">
            <a:pPr algn="l">
              <a:defRPr sz="2175" b="1">
                <a:solidFill>
                  <a:srgbClr val="222B38"/>
                </a:solidFill>
                <a:latin typeface="DejaVu Sans"/>
                <a:ea typeface="DejaVu Sans"/>
                <a:cs typeface="DejaVu Sans"/>
              </a:defRPr>
            </a:pPr>
            <a:r>
              <a:rPr sz="2175" b="1">
                <a:solidFill>
                  <a:srgbClr val="222B38"/>
                </a:solidFill>
                <a:latin typeface="DejaVu Sans"/>
                <a:ea typeface="DejaVu Sans"/>
                <a:cs typeface="DejaVu Sans"/>
              </a:rPr>
              <a:t>Exchange messages</a:t>
            </a:r>
          </a:p>
        </p:txBody>
      </p:sp>
      <p:sp>
        <p:nvSpPr>
          <p:cNvPr id="6" name="text-67">
            <a:extLst xmlns:a="http://schemas.openxmlformats.org/drawingml/2006/main">
              <a:ext uri="{FF2B5EF4-FFF2-40B4-BE49-F238E27FC236}">
                <a16:creationId xmlns:a16="http://schemas.microsoft.com/office/drawing/2014/main" id="{94678524-8BD9-456C-BA36-BC621FD91CCA}"/>
              </a:ext>
            </a:extLst>
          </p:cNvPr>
          <p:cNvSpPr>
            <a:spLocks xmlns:a="http://schemas.openxmlformats.org/drawingml/2006/main" noGrp="1"/>
          </p:cNvSpPr>
          <p:nvPr/>
        </p:nvSpPr>
        <p:spPr>
          <a:xfrm xmlns:a="http://schemas.openxmlformats.org/drawingml/2006/main">
            <a:off x="1476375" y="1905000"/>
            <a:ext cx="9810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697383"/>
                </a:solidFill>
                <a:latin typeface="DejaVu Sans"/>
                <a:ea typeface="DejaVu Sans"/>
                <a:cs typeface="DejaVu Sans"/>
              </a:defRPr>
            </a:defPPr>
          </a:lstStyle>
          <a:p xmlns:a="http://schemas.openxmlformats.org/drawingml/2006/main">
            <a:pPr algn="l">
              <a:defRPr sz="1800" b="0">
                <a:solidFill>
                  <a:srgbClr val="697383"/>
                </a:solidFill>
                <a:latin typeface="DejaVu Sans"/>
                <a:ea typeface="DejaVu Sans"/>
                <a:cs typeface="DejaVu Sans"/>
              </a:defRPr>
            </a:pPr>
            <a:r>
              <a:rPr sz="1800" b="0">
                <a:solidFill>
                  <a:srgbClr val="697383"/>
                </a:solidFill>
                <a:latin typeface="DejaVu Sans"/>
                <a:ea typeface="DejaVu Sans"/>
                <a:cs typeface="DejaVu Sans"/>
              </a:rPr>
              <a:t>Send A to B, reply B to A and show delivered status.</a:t>
            </a:r>
          </a:p>
        </p:txBody>
      </p:sp>
      <p:sp>
        <p:nvSpPr>
          <p:cNvPr id="7" name="text-68">
            <a:extLst xmlns:a="http://schemas.openxmlformats.org/drawingml/2006/main">
              <a:ext uri="{FF2B5EF4-FFF2-40B4-BE49-F238E27FC236}">
                <a16:creationId xmlns:a16="http://schemas.microsoft.com/office/drawing/2014/main" id="{95EAEA79-AEBF-4481-B45D-C1D02F33F3EB}"/>
              </a:ext>
            </a:extLst>
          </p:cNvPr>
          <p:cNvSpPr>
            <a:spLocks xmlns:a="http://schemas.openxmlformats.org/drawingml/2006/main" noGrp="1"/>
          </p:cNvSpPr>
          <p:nvPr/>
        </p:nvSpPr>
        <p:spPr>
          <a:xfrm xmlns:a="http://schemas.openxmlformats.org/drawingml/2006/main">
            <a:off x="666750" y="2619375"/>
            <a:ext cx="571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000" b="1">
                <a:solidFill>
                  <a:srgbClr val="6756A7"/>
                </a:solidFill>
                <a:latin typeface="DejaVu Sans"/>
                <a:ea typeface="DejaVu Sans"/>
                <a:cs typeface="DejaVu Sans"/>
              </a:defRPr>
            </a:defPPr>
          </a:lstStyle>
          <a:p xmlns:a="http://schemas.openxmlformats.org/drawingml/2006/main">
            <a:pPr algn="l">
              <a:defRPr sz="3000" b="1">
                <a:solidFill>
                  <a:srgbClr val="6756A7"/>
                </a:solidFill>
                <a:latin typeface="DejaVu Sans"/>
                <a:ea typeface="DejaVu Sans"/>
                <a:cs typeface="DejaVu Sans"/>
              </a:defRPr>
            </a:pPr>
            <a:r>
              <a:rPr sz="3000" b="1">
                <a:solidFill>
                  <a:srgbClr val="6756A7"/>
                </a:solidFill>
                <a:latin typeface="DejaVu Sans"/>
                <a:ea typeface="DejaVu Sans"/>
                <a:cs typeface="DejaVu Sans"/>
              </a:rPr>
              <a:t>02</a:t>
            </a:r>
          </a:p>
        </p:txBody>
      </p:sp>
      <p:sp>
        <p:nvSpPr>
          <p:cNvPr id="8" name="text-69">
            <a:extLst xmlns:a="http://schemas.openxmlformats.org/drawingml/2006/main">
              <a:ext uri="{FF2B5EF4-FFF2-40B4-BE49-F238E27FC236}">
                <a16:creationId xmlns:a16="http://schemas.microsoft.com/office/drawing/2014/main" id="{66F1BEDE-AB5F-48D7-AE4E-04BFB0C3BC32}"/>
              </a:ext>
            </a:extLst>
          </p:cNvPr>
          <p:cNvSpPr>
            <a:spLocks xmlns:a="http://schemas.openxmlformats.org/drawingml/2006/main" noGrp="1"/>
          </p:cNvSpPr>
          <p:nvPr/>
        </p:nvSpPr>
        <p:spPr>
          <a:xfrm xmlns:a="http://schemas.openxmlformats.org/drawingml/2006/main">
            <a:off x="1476375" y="2619375"/>
            <a:ext cx="9810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1">
                <a:solidFill>
                  <a:srgbClr val="222B38"/>
                </a:solidFill>
                <a:latin typeface="DejaVu Sans"/>
                <a:ea typeface="DejaVu Sans"/>
                <a:cs typeface="DejaVu Sans"/>
              </a:defRPr>
            </a:defPPr>
          </a:lstStyle>
          <a:p xmlns:a="http://schemas.openxmlformats.org/drawingml/2006/main">
            <a:pPr algn="l">
              <a:defRPr sz="2175" b="1">
                <a:solidFill>
                  <a:srgbClr val="222B38"/>
                </a:solidFill>
                <a:latin typeface="DejaVu Sans"/>
                <a:ea typeface="DejaVu Sans"/>
                <a:cs typeface="DejaVu Sans"/>
              </a:defRPr>
            </a:pPr>
            <a:r>
              <a:rPr sz="2175" b="1">
                <a:solidFill>
                  <a:srgbClr val="222B38"/>
                </a:solidFill>
                <a:latin typeface="DejaVu Sans"/>
                <a:ea typeface="DejaVu Sans"/>
                <a:cs typeface="DejaVu Sans"/>
              </a:rPr>
              <a:t>Inspect the backend</a:t>
            </a:r>
          </a:p>
        </p:txBody>
      </p:sp>
      <p:sp>
        <p:nvSpPr>
          <p:cNvPr id="9" name="text-70">
            <a:extLst xmlns:a="http://schemas.openxmlformats.org/drawingml/2006/main">
              <a:ext uri="{FF2B5EF4-FFF2-40B4-BE49-F238E27FC236}">
                <a16:creationId xmlns:a16="http://schemas.microsoft.com/office/drawing/2014/main" id="{8EEC468C-2563-46BD-B09D-B8710537FAD2}"/>
              </a:ext>
            </a:extLst>
          </p:cNvPr>
          <p:cNvSpPr>
            <a:spLocks xmlns:a="http://schemas.openxmlformats.org/drawingml/2006/main" noGrp="1"/>
          </p:cNvSpPr>
          <p:nvPr/>
        </p:nvSpPr>
        <p:spPr>
          <a:xfrm xmlns:a="http://schemas.openxmlformats.org/drawingml/2006/main">
            <a:off x="1476375" y="3048000"/>
            <a:ext cx="9810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697383"/>
                </a:solidFill>
                <a:latin typeface="DejaVu Sans"/>
                <a:ea typeface="DejaVu Sans"/>
                <a:cs typeface="DejaVu Sans"/>
              </a:defRPr>
            </a:defPPr>
          </a:lstStyle>
          <a:p xmlns:a="http://schemas.openxmlformats.org/drawingml/2006/main">
            <a:pPr algn="l">
              <a:defRPr sz="1800" b="0">
                <a:solidFill>
                  <a:srgbClr val="697383"/>
                </a:solidFill>
                <a:latin typeface="DejaVu Sans"/>
                <a:ea typeface="DejaVu Sans"/>
                <a:cs typeface="DejaVu Sans"/>
              </a:defRPr>
            </a:pPr>
            <a:r>
              <a:rPr sz="1800" b="0">
                <a:solidFill>
                  <a:srgbClr val="697383"/>
                </a:solidFill>
                <a:latin typeface="DejaVu Sans"/>
                <a:ea typeface="DejaVu Sans"/>
                <a:cs typeface="DejaVu Sans"/>
              </a:rPr>
              <a:t>Compare dashboard PIDs with the Ubuntu ps command.</a:t>
            </a:r>
          </a:p>
        </p:txBody>
      </p:sp>
      <p:sp>
        <p:nvSpPr>
          <p:cNvPr id="10" name="text-71">
            <a:extLst xmlns:a="http://schemas.openxmlformats.org/drawingml/2006/main">
              <a:ext uri="{FF2B5EF4-FFF2-40B4-BE49-F238E27FC236}">
                <a16:creationId xmlns:a16="http://schemas.microsoft.com/office/drawing/2014/main" id="{FB7D1521-A1BD-4745-A982-64094C614D35}"/>
              </a:ext>
            </a:extLst>
          </p:cNvPr>
          <p:cNvSpPr>
            <a:spLocks xmlns:a="http://schemas.openxmlformats.org/drawingml/2006/main" noGrp="1"/>
          </p:cNvSpPr>
          <p:nvPr/>
        </p:nvSpPr>
        <p:spPr>
          <a:xfrm xmlns:a="http://schemas.openxmlformats.org/drawingml/2006/main">
            <a:off x="666750" y="3762375"/>
            <a:ext cx="571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000" b="1">
                <a:solidFill>
                  <a:srgbClr val="6756A7"/>
                </a:solidFill>
                <a:latin typeface="DejaVu Sans"/>
                <a:ea typeface="DejaVu Sans"/>
                <a:cs typeface="DejaVu Sans"/>
              </a:defRPr>
            </a:defPPr>
          </a:lstStyle>
          <a:p xmlns:a="http://schemas.openxmlformats.org/drawingml/2006/main">
            <a:pPr algn="l">
              <a:defRPr sz="3000" b="1">
                <a:solidFill>
                  <a:srgbClr val="6756A7"/>
                </a:solidFill>
                <a:latin typeface="DejaVu Sans"/>
                <a:ea typeface="DejaVu Sans"/>
                <a:cs typeface="DejaVu Sans"/>
              </a:defRPr>
            </a:pPr>
            <a:r>
              <a:rPr sz="3000" b="1">
                <a:solidFill>
                  <a:srgbClr val="6756A7"/>
                </a:solidFill>
                <a:latin typeface="DejaVu Sans"/>
                <a:ea typeface="DejaVu Sans"/>
                <a:cs typeface="DejaVu Sans"/>
              </a:rPr>
              <a:t>03</a:t>
            </a:r>
          </a:p>
        </p:txBody>
      </p:sp>
      <p:sp>
        <p:nvSpPr>
          <p:cNvPr id="11" name="text-72">
            <a:extLst xmlns:a="http://schemas.openxmlformats.org/drawingml/2006/main">
              <a:ext uri="{FF2B5EF4-FFF2-40B4-BE49-F238E27FC236}">
                <a16:creationId xmlns:a16="http://schemas.microsoft.com/office/drawing/2014/main" id="{AEAEB90A-A12A-4FE0-815B-AD3E7CAB56EB}"/>
              </a:ext>
            </a:extLst>
          </p:cNvPr>
          <p:cNvSpPr>
            <a:spLocks xmlns:a="http://schemas.openxmlformats.org/drawingml/2006/main" noGrp="1"/>
          </p:cNvSpPr>
          <p:nvPr/>
        </p:nvSpPr>
        <p:spPr>
          <a:xfrm xmlns:a="http://schemas.openxmlformats.org/drawingml/2006/main">
            <a:off x="1476375" y="3762375"/>
            <a:ext cx="9810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1">
                <a:solidFill>
                  <a:srgbClr val="222B38"/>
                </a:solidFill>
                <a:latin typeface="DejaVu Sans"/>
                <a:ea typeface="DejaVu Sans"/>
                <a:cs typeface="DejaVu Sans"/>
              </a:defRPr>
            </a:defPPr>
          </a:lstStyle>
          <a:p xmlns:a="http://schemas.openxmlformats.org/drawingml/2006/main">
            <a:pPr algn="l">
              <a:defRPr sz="2175" b="1">
                <a:solidFill>
                  <a:srgbClr val="222B38"/>
                </a:solidFill>
                <a:latin typeface="DejaVu Sans"/>
                <a:ea typeface="DejaVu Sans"/>
                <a:cs typeface="DejaVu Sans"/>
              </a:defRPr>
            </a:pPr>
            <a:r>
              <a:rPr sz="2175" b="1">
                <a:solidFill>
                  <a:srgbClr val="222B38"/>
                </a:solidFill>
                <a:latin typeface="DejaVu Sans"/>
                <a:ea typeface="DejaVu Sans"/>
                <a:cs typeface="DejaVu Sans"/>
              </a:rPr>
              <a:t>Verify the FIFO files</a:t>
            </a:r>
          </a:p>
        </p:txBody>
      </p:sp>
      <p:sp>
        <p:nvSpPr>
          <p:cNvPr id="12" name="text-73">
            <a:extLst xmlns:a="http://schemas.openxmlformats.org/drawingml/2006/main">
              <a:ext uri="{FF2B5EF4-FFF2-40B4-BE49-F238E27FC236}">
                <a16:creationId xmlns:a16="http://schemas.microsoft.com/office/drawing/2014/main" id="{947D6083-E6B6-4CDA-9F78-B2770DBFA0FF}"/>
              </a:ext>
            </a:extLst>
          </p:cNvPr>
          <p:cNvSpPr>
            <a:spLocks xmlns:a="http://schemas.openxmlformats.org/drawingml/2006/main" noGrp="1"/>
          </p:cNvSpPr>
          <p:nvPr/>
        </p:nvSpPr>
        <p:spPr>
          <a:xfrm xmlns:a="http://schemas.openxmlformats.org/drawingml/2006/main">
            <a:off x="1476375" y="4191000"/>
            <a:ext cx="9810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697383"/>
                </a:solidFill>
                <a:latin typeface="DejaVu Sans"/>
                <a:ea typeface="DejaVu Sans"/>
                <a:cs typeface="DejaVu Sans"/>
              </a:defRPr>
            </a:defPPr>
          </a:lstStyle>
          <a:p xmlns:a="http://schemas.openxmlformats.org/drawingml/2006/main">
            <a:pPr algn="l">
              <a:defRPr sz="1800" b="0">
                <a:solidFill>
                  <a:srgbClr val="697383"/>
                </a:solidFill>
                <a:latin typeface="DejaVu Sans"/>
                <a:ea typeface="DejaVu Sans"/>
                <a:cs typeface="DejaVu Sans"/>
              </a:defRPr>
            </a:pPr>
            <a:r>
              <a:rPr sz="1800" b="0">
                <a:solidFill>
                  <a:srgbClr val="697383"/>
                </a:solidFill>
                <a:latin typeface="DejaVu Sans"/>
                <a:ea typeface="DejaVu Sans"/>
                <a:cs typeface="DejaVu Sans"/>
              </a:rPr>
              <a:t>Use ls -l and point to the leading p file-type marker.</a:t>
            </a:r>
          </a:p>
        </p:txBody>
      </p:sp>
      <p:sp>
        <p:nvSpPr>
          <p:cNvPr id="13" name="text-74">
            <a:extLst xmlns:a="http://schemas.openxmlformats.org/drawingml/2006/main">
              <a:ext uri="{FF2B5EF4-FFF2-40B4-BE49-F238E27FC236}">
                <a16:creationId xmlns:a16="http://schemas.microsoft.com/office/drawing/2014/main" id="{DFC8291B-9889-4C17-A9CF-B80FE44B6968}"/>
              </a:ext>
            </a:extLst>
          </p:cNvPr>
          <p:cNvSpPr>
            <a:spLocks xmlns:a="http://schemas.openxmlformats.org/drawingml/2006/main" noGrp="1"/>
          </p:cNvSpPr>
          <p:nvPr/>
        </p:nvSpPr>
        <p:spPr>
          <a:xfrm xmlns:a="http://schemas.openxmlformats.org/drawingml/2006/main">
            <a:off x="666750" y="4905375"/>
            <a:ext cx="571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000" b="1">
                <a:solidFill>
                  <a:srgbClr val="6756A7"/>
                </a:solidFill>
                <a:latin typeface="DejaVu Sans"/>
                <a:ea typeface="DejaVu Sans"/>
                <a:cs typeface="DejaVu Sans"/>
              </a:defRPr>
            </a:defPPr>
          </a:lstStyle>
          <a:p xmlns:a="http://schemas.openxmlformats.org/drawingml/2006/main">
            <a:pPr algn="l">
              <a:defRPr sz="3000" b="1">
                <a:solidFill>
                  <a:srgbClr val="6756A7"/>
                </a:solidFill>
                <a:latin typeface="DejaVu Sans"/>
                <a:ea typeface="DejaVu Sans"/>
                <a:cs typeface="DejaVu Sans"/>
              </a:defRPr>
            </a:pPr>
            <a:r>
              <a:rPr sz="3000" b="1">
                <a:solidFill>
                  <a:srgbClr val="6756A7"/>
                </a:solidFill>
                <a:latin typeface="DejaVu Sans"/>
                <a:ea typeface="DejaVu Sans"/>
                <a:cs typeface="DejaVu Sans"/>
              </a:rPr>
              <a:t>04</a:t>
            </a:r>
          </a:p>
        </p:txBody>
      </p:sp>
      <p:sp>
        <p:nvSpPr>
          <p:cNvPr id="14" name="text-75">
            <a:extLst xmlns:a="http://schemas.openxmlformats.org/drawingml/2006/main">
              <a:ext uri="{FF2B5EF4-FFF2-40B4-BE49-F238E27FC236}">
                <a16:creationId xmlns:a16="http://schemas.microsoft.com/office/drawing/2014/main" id="{999CBA0B-8B92-4FAE-A8DC-CDA1BA58203B}"/>
              </a:ext>
            </a:extLst>
          </p:cNvPr>
          <p:cNvSpPr>
            <a:spLocks xmlns:a="http://schemas.openxmlformats.org/drawingml/2006/main" noGrp="1"/>
          </p:cNvSpPr>
          <p:nvPr/>
        </p:nvSpPr>
        <p:spPr>
          <a:xfrm xmlns:a="http://schemas.openxmlformats.org/drawingml/2006/main">
            <a:off x="1476375" y="4905375"/>
            <a:ext cx="9810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1">
                <a:solidFill>
                  <a:srgbClr val="222B38"/>
                </a:solidFill>
                <a:latin typeface="DejaVu Sans"/>
                <a:ea typeface="DejaVu Sans"/>
                <a:cs typeface="DejaVu Sans"/>
              </a:defRPr>
            </a:defPPr>
          </a:lstStyle>
          <a:p xmlns:a="http://schemas.openxmlformats.org/drawingml/2006/main">
            <a:pPr algn="l">
              <a:defRPr sz="2175" b="1">
                <a:solidFill>
                  <a:srgbClr val="222B38"/>
                </a:solidFill>
                <a:latin typeface="DejaVu Sans"/>
                <a:ea typeface="DejaVu Sans"/>
                <a:cs typeface="DejaVu Sans"/>
              </a:defRPr>
            </a:pPr>
            <a:r>
              <a:rPr sz="2175" b="1">
                <a:solidFill>
                  <a:srgbClr val="222B38"/>
                </a:solidFill>
                <a:latin typeface="DejaVu Sans"/>
                <a:ea typeface="DejaVu Sans"/>
                <a:cs typeface="DejaVu Sans"/>
              </a:rPr>
              <a:t>Show recovery</a:t>
            </a:r>
          </a:p>
        </p:txBody>
      </p:sp>
      <p:sp>
        <p:nvSpPr>
          <p:cNvPr id="15" name="text-76">
            <a:extLst xmlns:a="http://schemas.openxmlformats.org/drawingml/2006/main">
              <a:ext uri="{FF2B5EF4-FFF2-40B4-BE49-F238E27FC236}">
                <a16:creationId xmlns:a16="http://schemas.microsoft.com/office/drawing/2014/main" id="{D8BA4DF6-4ED0-4A21-9E66-F3329CE788DB}"/>
              </a:ext>
            </a:extLst>
          </p:cNvPr>
          <p:cNvSpPr>
            <a:spLocks xmlns:a="http://schemas.openxmlformats.org/drawingml/2006/main" noGrp="1"/>
          </p:cNvSpPr>
          <p:nvPr/>
        </p:nvSpPr>
        <p:spPr>
          <a:xfrm xmlns:a="http://schemas.openxmlformats.org/drawingml/2006/main">
            <a:off x="1476375" y="5334000"/>
            <a:ext cx="9810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697383"/>
                </a:solidFill>
                <a:latin typeface="DejaVu Sans"/>
                <a:ea typeface="DejaVu Sans"/>
                <a:cs typeface="DejaVu Sans"/>
              </a:defRPr>
            </a:defPPr>
          </a:lstStyle>
          <a:p xmlns:a="http://schemas.openxmlformats.org/drawingml/2006/main">
            <a:pPr algn="l">
              <a:defRPr sz="1800" b="0">
                <a:solidFill>
                  <a:srgbClr val="697383"/>
                </a:solidFill>
                <a:latin typeface="DejaVu Sans"/>
                <a:ea typeface="DejaVu Sans"/>
                <a:cs typeface="DejaVu Sans"/>
              </a:defRPr>
            </a:pPr>
            <a:r>
              <a:rPr sz="1800" b="0">
                <a:solidFill>
                  <a:srgbClr val="697383"/>
                </a:solidFill>
                <a:latin typeface="DejaVu Sans"/>
                <a:ea typeface="DejaVu Sans"/>
                <a:cs typeface="DejaVu Sans"/>
              </a:rPr>
              <a:t>Stop Process B, restart both peers and exchange messages again.</a:t>
            </a:r>
          </a:p>
        </p:txBody>
      </p:sp>
    </p:spTree>
    <p:extLst>
      <p:ext uri="{BB962C8B-B14F-4D97-AF65-F5344CB8AC3E}">
        <p14:creationId xmlns:p14="http://schemas.microsoft.com/office/powerpoint/2010/main" val="1324618133"/>
      </p:ext>
    </p:extLst>
  </p:cSld>
</p:sld>
</file>

<file path=ppt/slides/slide11.xml><?xml version="1.0" encoding="utf-8"?>
<p:sld xmlns:p="http://schemas.openxmlformats.org/presentationml/2006/main">
  <p:cSld>
    <p:bg>
      <p:bgPr>
        <a:solidFill xmlns:a="http://schemas.openxmlformats.org/drawingml/2006/main">
          <a:srgbClr val="FCFBF8"/>
        </a:solidFill>
      </p:bgPr>
    </p:bg>
    <p:spTree>
      <p:nvGrpSpPr>
        <p:cNvPr id="1" name=""/>
        <p:cNvGrpSpPr/>
        <p:nvPr/>
      </p:nvGrpSpPr>
      <p:grpSpPr>
        <a:xfrm xmlns:a="http://schemas.openxmlformats.org/drawingml/2006/main"/>
      </p:grpSpPr>
      <p:sp>
        <p:nvSpPr>
          <p:cNvPr id="9" name="text-77">
            <a:extLst xmlns:a="http://schemas.openxmlformats.org/drawingml/2006/main">
              <a:ext uri="{FF2B5EF4-FFF2-40B4-BE49-F238E27FC236}">
                <a16:creationId xmlns:a16="http://schemas.microsoft.com/office/drawing/2014/main" id="{5C9CD16C-8738-44A8-B6D9-E62A6DB19611}"/>
              </a:ext>
            </a:extLst>
          </p:cNvPr>
          <p:cNvSpPr>
            <a:spLocks xmlns:a="http://schemas.openxmlformats.org/drawingml/2006/main" noGrp="1"/>
          </p:cNvSpPr>
          <p:nvPr/>
        </p:nvSpPr>
        <p:spPr>
          <a:xfrm xmlns:a="http://schemas.openxmlformats.org/drawingml/2006/main">
            <a:off x="628650" y="428625"/>
            <a:ext cx="10953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222B38"/>
                </a:solidFill>
                <a:latin typeface="DejaVu Sans"/>
                <a:ea typeface="DejaVu Sans"/>
                <a:cs typeface="DejaVu Sans"/>
              </a:defRPr>
            </a:defPPr>
          </a:lstStyle>
          <a:p xmlns:a="http://schemas.openxmlformats.org/drawingml/2006/main">
            <a:pPr algn="l">
              <a:defRPr sz="3300" b="1">
                <a:solidFill>
                  <a:srgbClr val="222B38"/>
                </a:solidFill>
                <a:latin typeface="DejaVu Sans"/>
                <a:ea typeface="DejaVu Sans"/>
                <a:cs typeface="DejaVu Sans"/>
              </a:defRPr>
            </a:pPr>
            <a:r>
              <a:rPr sz="3300" b="1">
                <a:solidFill>
                  <a:srgbClr val="222B38"/>
                </a:solidFill>
                <a:latin typeface="DejaVu Sans"/>
                <a:ea typeface="DejaVu Sans"/>
                <a:cs typeface="DejaVu Sans"/>
              </a:rPr>
              <a:t>Results and Current Scope</a:t>
            </a:r>
          </a:p>
        </p:txBody>
      </p:sp>
      <p:sp>
        <p:nvSpPr>
          <p:cNvPr id="2" name="text-78">
            <a:extLst xmlns:a="http://schemas.openxmlformats.org/drawingml/2006/main">
              <a:ext uri="{FF2B5EF4-FFF2-40B4-BE49-F238E27FC236}">
                <a16:creationId xmlns:a16="http://schemas.microsoft.com/office/drawing/2014/main" id="{C4BFE715-5D62-408F-9397-5D83F1B49E19}"/>
              </a:ext>
            </a:extLst>
          </p:cNvPr>
          <p:cNvSpPr>
            <a:spLocks xmlns:a="http://schemas.openxmlformats.org/drawingml/2006/main" noGrp="1"/>
          </p:cNvSpPr>
          <p:nvPr/>
        </p:nvSpPr>
        <p:spPr>
          <a:xfrm xmlns:a="http://schemas.openxmlformats.org/drawingml/2006/main">
            <a:off x="628650" y="6477000"/>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0">
                <a:solidFill>
                  <a:srgbClr val="697383"/>
                </a:solidFill>
                <a:latin typeface="DejaVu Sans"/>
                <a:ea typeface="DejaVu Sans"/>
                <a:cs typeface="DejaVu Sans"/>
              </a:defRPr>
            </a:defPPr>
          </a:lstStyle>
          <a:p xmlns:a="http://schemas.openxmlformats.org/drawingml/2006/main">
            <a:pPr algn="l">
              <a:defRPr sz="1050" b="0">
                <a:solidFill>
                  <a:srgbClr val="697383"/>
                </a:solidFill>
                <a:latin typeface="DejaVu Sans"/>
                <a:ea typeface="DejaVu Sans"/>
                <a:cs typeface="DejaVu Sans"/>
              </a:defRPr>
            </a:pPr>
            <a:r>
              <a:rPr sz="1050" b="0">
                <a:solidFill>
                  <a:srgbClr val="697383"/>
                </a:solidFill>
                <a:latin typeface="DejaVu Sans"/>
                <a:ea typeface="DejaVu Sans"/>
                <a:cs typeface="DejaVu Sans"/>
              </a:rPr>
              <a:t>PipeTalk  /  OSSP Hackathon Team 8</a:t>
            </a:r>
          </a:p>
        </p:txBody>
      </p:sp>
      <p:sp>
        <p:nvSpPr>
          <p:cNvPr id="3" name="text-79">
            <a:extLst xmlns:a="http://schemas.openxmlformats.org/drawingml/2006/main">
              <a:ext uri="{FF2B5EF4-FFF2-40B4-BE49-F238E27FC236}">
                <a16:creationId xmlns:a16="http://schemas.microsoft.com/office/drawing/2014/main" id="{6540E59C-A0E9-44F8-BF72-EEF809AB911F}"/>
              </a:ext>
            </a:extLst>
          </p:cNvPr>
          <p:cNvSpPr>
            <a:spLocks xmlns:a="http://schemas.openxmlformats.org/drawingml/2006/main" noGrp="1"/>
          </p:cNvSpPr>
          <p:nvPr/>
        </p:nvSpPr>
        <p:spPr>
          <a:xfrm xmlns:a="http://schemas.openxmlformats.org/drawingml/2006/main">
            <a:off x="11049000" y="647700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0">
                <a:solidFill>
                  <a:srgbClr val="697383"/>
                </a:solidFill>
                <a:latin typeface="DejaVu Sans"/>
                <a:ea typeface="DejaVu Sans"/>
                <a:cs typeface="DejaVu Sans"/>
              </a:defRPr>
            </a:defPPr>
          </a:lstStyle>
          <a:p xmlns:a="http://schemas.openxmlformats.org/drawingml/2006/main">
            <a:pPr algn="l">
              <a:defRPr sz="1050" b="0">
                <a:solidFill>
                  <a:srgbClr val="697383"/>
                </a:solidFill>
                <a:latin typeface="DejaVu Sans"/>
                <a:ea typeface="DejaVu Sans"/>
                <a:cs typeface="DejaVu Sans"/>
              </a:defRPr>
            </a:pPr>
            <a:r>
              <a:rPr sz="1050" b="0">
                <a:solidFill>
                  <a:srgbClr val="697383"/>
                </a:solidFill>
                <a:latin typeface="DejaVu Sans"/>
                <a:ea typeface="DejaVu Sans"/>
                <a:cs typeface="DejaVu Sans"/>
              </a:rPr>
              <a:t>11</a:t>
            </a:r>
          </a:p>
        </p:txBody>
      </p:sp>
      <p:sp>
        <p:nvSpPr>
          <p:cNvPr id="4" name="text-80">
            <a:extLst xmlns:a="http://schemas.openxmlformats.org/drawingml/2006/main">
              <a:ext uri="{FF2B5EF4-FFF2-40B4-BE49-F238E27FC236}">
                <a16:creationId xmlns:a16="http://schemas.microsoft.com/office/drawing/2014/main" id="{7DE8C631-11AB-4E70-84C2-CFE19FADB494}"/>
              </a:ext>
            </a:extLst>
          </p:cNvPr>
          <p:cNvSpPr>
            <a:spLocks xmlns:a="http://schemas.openxmlformats.org/drawingml/2006/main" noGrp="1"/>
          </p:cNvSpPr>
          <p:nvPr/>
        </p:nvSpPr>
        <p:spPr>
          <a:xfrm xmlns:a="http://schemas.openxmlformats.org/drawingml/2006/main">
            <a:off x="666750" y="1571625"/>
            <a:ext cx="4762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6756A7"/>
                </a:solidFill>
                <a:latin typeface="DejaVu Sans"/>
                <a:ea typeface="DejaVu Sans"/>
                <a:cs typeface="DejaVu Sans"/>
              </a:defRPr>
            </a:defPPr>
          </a:lstStyle>
          <a:p xmlns:a="http://schemas.openxmlformats.org/drawingml/2006/main">
            <a:pPr algn="l">
              <a:defRPr sz="2325" b="1">
                <a:solidFill>
                  <a:srgbClr val="6756A7"/>
                </a:solidFill>
                <a:latin typeface="DejaVu Sans"/>
                <a:ea typeface="DejaVu Sans"/>
                <a:cs typeface="DejaVu Sans"/>
              </a:defRPr>
            </a:pPr>
            <a:r>
              <a:rPr sz="2325" b="1">
                <a:solidFill>
                  <a:srgbClr val="6756A7"/>
                </a:solidFill>
                <a:latin typeface="DejaVu Sans"/>
                <a:ea typeface="DejaVu Sans"/>
                <a:cs typeface="DejaVu Sans"/>
              </a:rPr>
              <a:t>Implemented</a:t>
            </a:r>
          </a:p>
        </p:txBody>
      </p:sp>
      <p:sp>
        <p:nvSpPr>
          <p:cNvPr id="5" name="text-81">
            <a:extLst xmlns:a="http://schemas.openxmlformats.org/drawingml/2006/main">
              <a:ext uri="{FF2B5EF4-FFF2-40B4-BE49-F238E27FC236}">
                <a16:creationId xmlns:a16="http://schemas.microsoft.com/office/drawing/2014/main" id="{0FAA840D-1788-4220-AB0B-E6CACF981E6F}"/>
              </a:ext>
            </a:extLst>
          </p:cNvPr>
          <p:cNvSpPr>
            <a:spLocks xmlns:a="http://schemas.openxmlformats.org/drawingml/2006/main" noGrp="1"/>
          </p:cNvSpPr>
          <p:nvPr/>
        </p:nvSpPr>
        <p:spPr>
          <a:xfrm xmlns:a="http://schemas.openxmlformats.org/drawingml/2006/main">
            <a:off x="666750" y="2238375"/>
            <a:ext cx="5143500" cy="3381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222B38"/>
                </a:solidFill>
                <a:latin typeface="DejaVu Sans"/>
                <a:ea typeface="DejaVu Sans"/>
                <a:cs typeface="DejaVu Sans"/>
              </a:defRPr>
            </a:defPPr>
          </a:lstStyle>
          <a:p xmlns:a="http://schemas.openxmlformats.org/drawingml/2006/main">
            <a:pPr algn="l">
              <a:defRPr sz="2025" b="0">
                <a:solidFill>
                  <a:srgbClr val="222B38"/>
                </a:solidFill>
                <a:latin typeface="DejaVu Sans"/>
                <a:ea typeface="DejaVu Sans"/>
                <a:cs typeface="DejaVu Sans"/>
              </a:defRPr>
            </a:pPr>
            <a:r>
              <a:rPr sz="2025" b="0">
                <a:solidFill>
                  <a:srgbClr val="222B38"/>
                </a:solidFill>
                <a:latin typeface="DejaVu Sans"/>
                <a:ea typeface="DejaVu Sans"/>
                <a:cs typeface="DejaVu Sans"/>
              </a:rPr>
              <a:t>Two-way FIFO communication</a:t>
            </a:r>
          </a:p>
          <a:p xmlns:a="http://schemas.openxmlformats.org/drawingml/2006/main">
            <a:r>
              <a:t/>
            </a:r>
          </a:p>
          <a:p xmlns:a="http://schemas.openxmlformats.org/drawingml/2006/main">
            <a:pPr algn="l">
              <a:defRPr sz="2025" b="0">
                <a:solidFill>
                  <a:srgbClr val="222B38"/>
                </a:solidFill>
                <a:latin typeface="DejaVu Sans"/>
                <a:ea typeface="DejaVu Sans"/>
                <a:cs typeface="DejaVu Sans"/>
              </a:defRPr>
            </a:pPr>
            <a:r>
              <a:rPr sz="2025" b="0">
                <a:solidFill>
                  <a:srgbClr val="222B38"/>
                </a:solidFill>
                <a:latin typeface="DejaVu Sans"/>
                <a:ea typeface="DejaVu Sans"/>
                <a:cs typeface="DejaVu Sans"/>
              </a:rPr>
              <a:t>Receiving-process confirmation</a:t>
            </a:r>
          </a:p>
          <a:p xmlns:a="http://schemas.openxmlformats.org/drawingml/2006/main">
            <a:r>
              <a:t/>
            </a:r>
          </a:p>
          <a:p xmlns:a="http://schemas.openxmlformats.org/drawingml/2006/main">
            <a:pPr algn="l">
              <a:defRPr sz="2025" b="0">
                <a:solidFill>
                  <a:srgbClr val="222B38"/>
                </a:solidFill>
                <a:latin typeface="DejaVu Sans"/>
                <a:ea typeface="DejaVu Sans"/>
                <a:cs typeface="DejaVu Sans"/>
              </a:defRPr>
            </a:pPr>
            <a:r>
              <a:rPr sz="2025" b="0">
                <a:solidFill>
                  <a:srgbClr val="222B38"/>
                </a:solidFill>
                <a:latin typeface="DejaVu Sans"/>
                <a:ea typeface="DejaVu Sans"/>
                <a:cs typeface="DejaVu Sans"/>
              </a:rPr>
              <a:t>Live PID and resource inspection</a:t>
            </a:r>
          </a:p>
          <a:p xmlns:a="http://schemas.openxmlformats.org/drawingml/2006/main">
            <a:r>
              <a:t/>
            </a:r>
          </a:p>
          <a:p xmlns:a="http://schemas.openxmlformats.org/drawingml/2006/main">
            <a:pPr algn="l">
              <a:defRPr sz="2025" b="0">
                <a:solidFill>
                  <a:srgbClr val="222B38"/>
                </a:solidFill>
                <a:latin typeface="DejaVu Sans"/>
                <a:ea typeface="DejaVu Sans"/>
                <a:cs typeface="DejaVu Sans"/>
              </a:defRPr>
            </a:pPr>
            <a:r>
              <a:rPr sz="2025" b="0">
                <a:solidFill>
                  <a:srgbClr val="222B38"/>
                </a:solidFill>
                <a:latin typeface="DejaVu Sans"/>
                <a:ea typeface="DejaVu Sans"/>
                <a:cs typeface="DejaVu Sans"/>
              </a:rPr>
              <a:t>Restart and JSON session export</a:t>
            </a:r>
          </a:p>
        </p:txBody>
      </p:sp>
      <p:sp>
        <p:nvSpPr>
          <p:cNvPr id="6" name="text-82">
            <a:extLst xmlns:a="http://schemas.openxmlformats.org/drawingml/2006/main">
              <a:ext uri="{FF2B5EF4-FFF2-40B4-BE49-F238E27FC236}">
                <a16:creationId xmlns:a16="http://schemas.microsoft.com/office/drawing/2014/main" id="{46EF6959-7FE2-40FE-9DFB-ACDB64C1124A}"/>
              </a:ext>
            </a:extLst>
          </p:cNvPr>
          <p:cNvSpPr>
            <a:spLocks xmlns:a="http://schemas.openxmlformats.org/drawingml/2006/main" noGrp="1"/>
          </p:cNvSpPr>
          <p:nvPr/>
        </p:nvSpPr>
        <p:spPr>
          <a:xfrm xmlns:a="http://schemas.openxmlformats.org/drawingml/2006/main">
            <a:off x="6572250" y="1571625"/>
            <a:ext cx="4762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6756A7"/>
                </a:solidFill>
                <a:latin typeface="DejaVu Sans"/>
                <a:ea typeface="DejaVu Sans"/>
                <a:cs typeface="DejaVu Sans"/>
              </a:defRPr>
            </a:defPPr>
          </a:lstStyle>
          <a:p xmlns:a="http://schemas.openxmlformats.org/drawingml/2006/main">
            <a:pPr algn="l">
              <a:defRPr sz="2325" b="1">
                <a:solidFill>
                  <a:srgbClr val="6756A7"/>
                </a:solidFill>
                <a:latin typeface="DejaVu Sans"/>
                <a:ea typeface="DejaVu Sans"/>
                <a:cs typeface="DejaVu Sans"/>
              </a:defRPr>
            </a:pPr>
            <a:r>
              <a:rPr sz="2325" b="1">
                <a:solidFill>
                  <a:srgbClr val="6756A7"/>
                </a:solidFill>
                <a:latin typeface="DejaVu Sans"/>
                <a:ea typeface="DejaVu Sans"/>
                <a:cs typeface="DejaVu Sans"/>
              </a:rPr>
              <a:t>Current limits</a:t>
            </a:r>
          </a:p>
        </p:txBody>
      </p:sp>
      <p:sp>
        <p:nvSpPr>
          <p:cNvPr id="7" name="text-83">
            <a:extLst xmlns:a="http://schemas.openxmlformats.org/drawingml/2006/main">
              <a:ext uri="{FF2B5EF4-FFF2-40B4-BE49-F238E27FC236}">
                <a16:creationId xmlns:a16="http://schemas.microsoft.com/office/drawing/2014/main" id="{9DF858B1-7370-4DB2-A124-B9E2A8ADD45E}"/>
              </a:ext>
            </a:extLst>
          </p:cNvPr>
          <p:cNvSpPr>
            <a:spLocks xmlns:a="http://schemas.openxmlformats.org/drawingml/2006/main" noGrp="1"/>
          </p:cNvSpPr>
          <p:nvPr/>
        </p:nvSpPr>
        <p:spPr>
          <a:xfrm xmlns:a="http://schemas.openxmlformats.org/drawingml/2006/main">
            <a:off x="6572250" y="2238375"/>
            <a:ext cx="4953000" cy="3381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222B38"/>
                </a:solidFill>
                <a:latin typeface="DejaVu Sans"/>
                <a:ea typeface="DejaVu Sans"/>
                <a:cs typeface="DejaVu Sans"/>
              </a:defRPr>
            </a:defPPr>
          </a:lstStyle>
          <a:p xmlns:a="http://schemas.openxmlformats.org/drawingml/2006/main">
            <a:pPr algn="l">
              <a:defRPr sz="2025" b="0">
                <a:solidFill>
                  <a:srgbClr val="222B38"/>
                </a:solidFill>
                <a:latin typeface="DejaVu Sans"/>
                <a:ea typeface="DejaVu Sans"/>
                <a:cs typeface="DejaVu Sans"/>
              </a:defRPr>
            </a:pPr>
            <a:r>
              <a:rPr sz="2025" b="0">
                <a:solidFill>
                  <a:srgbClr val="222B38"/>
                </a:solidFill>
                <a:latin typeface="DejaVu Sans"/>
                <a:ea typeface="DejaVu Sans"/>
                <a:cs typeface="DejaVu Sans"/>
              </a:rPr>
              <a:t>Two endpoints on one Linux host</a:t>
            </a:r>
          </a:p>
          <a:p xmlns:a="http://schemas.openxmlformats.org/drawingml/2006/main">
            <a:r>
              <a:t/>
            </a:r>
          </a:p>
          <a:p xmlns:a="http://schemas.openxmlformats.org/drawingml/2006/main">
            <a:pPr algn="l">
              <a:defRPr sz="2025" b="0">
                <a:solidFill>
                  <a:srgbClr val="222B38"/>
                </a:solidFill>
                <a:latin typeface="DejaVu Sans"/>
                <a:ea typeface="DejaVu Sans"/>
                <a:cs typeface="DejaVu Sans"/>
              </a:defRPr>
            </a:pPr>
            <a:r>
              <a:rPr sz="2025" b="0">
                <a:solidFill>
                  <a:srgbClr val="222B38"/>
                </a:solidFill>
                <a:latin typeface="DejaVu Sans"/>
                <a:ea typeface="DejaVu Sans"/>
                <a:cs typeface="DejaVu Sans"/>
              </a:rPr>
              <a:t>Local browser access only</a:t>
            </a:r>
          </a:p>
          <a:p xmlns:a="http://schemas.openxmlformats.org/drawingml/2006/main">
            <a:r>
              <a:t/>
            </a:r>
          </a:p>
          <a:p xmlns:a="http://schemas.openxmlformats.org/drawingml/2006/main">
            <a:pPr algn="l">
              <a:defRPr sz="2025" b="0">
                <a:solidFill>
                  <a:srgbClr val="222B38"/>
                </a:solidFill>
                <a:latin typeface="DejaVu Sans"/>
                <a:ea typeface="DejaVu Sans"/>
                <a:cs typeface="DejaVu Sans"/>
              </a:defRPr>
            </a:pPr>
            <a:r>
              <a:rPr sz="2025" b="0">
                <a:solidFill>
                  <a:srgbClr val="222B38"/>
                </a:solidFill>
                <a:latin typeface="DejaVu Sans"/>
                <a:ea typeface="DejaVu Sans"/>
                <a:cs typeface="DejaVu Sans"/>
              </a:rPr>
              <a:t>500 retained messages in memory</a:t>
            </a:r>
          </a:p>
          <a:p xmlns:a="http://schemas.openxmlformats.org/drawingml/2006/main">
            <a:r>
              <a:t/>
            </a:r>
          </a:p>
          <a:p xmlns:a="http://schemas.openxmlformats.org/drawingml/2006/main">
            <a:pPr algn="l">
              <a:defRPr sz="2025" b="0">
                <a:solidFill>
                  <a:srgbClr val="222B38"/>
                </a:solidFill>
                <a:latin typeface="DejaVu Sans"/>
                <a:ea typeface="DejaVu Sans"/>
                <a:cs typeface="DejaVu Sans"/>
              </a:defRPr>
            </a:pPr>
            <a:r>
              <a:rPr sz="2025" b="0">
                <a:solidFill>
                  <a:srgbClr val="222B38"/>
                </a:solidFill>
                <a:latin typeface="DejaVu Sans"/>
                <a:ea typeface="DejaVu Sans"/>
                <a:cs typeface="DejaVu Sans"/>
              </a:rPr>
              <a:t>200 retained transport events</a:t>
            </a:r>
          </a:p>
        </p:txBody>
      </p:sp>
      <p:sp>
        <p:nvSpPr>
          <p:cNvPr id="8" name="text-84">
            <a:extLst xmlns:a="http://schemas.openxmlformats.org/drawingml/2006/main">
              <a:ext uri="{FF2B5EF4-FFF2-40B4-BE49-F238E27FC236}">
                <a16:creationId xmlns:a16="http://schemas.microsoft.com/office/drawing/2014/main" id="{01262F1C-74AD-4B6D-86A2-0379F5F0C9A1}"/>
              </a:ext>
            </a:extLst>
          </p:cNvPr>
          <p:cNvSpPr>
            <a:spLocks xmlns:a="http://schemas.openxmlformats.org/drawingml/2006/main" noGrp="1"/>
          </p:cNvSpPr>
          <p:nvPr/>
        </p:nvSpPr>
        <p:spPr>
          <a:xfrm xmlns:a="http://schemas.openxmlformats.org/drawingml/2006/main">
            <a:off x="666750" y="5905500"/>
            <a:ext cx="10668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697383"/>
                </a:solidFill>
                <a:latin typeface="DejaVu Sans"/>
                <a:ea typeface="DejaVu Sans"/>
                <a:cs typeface="DejaVu Sans"/>
              </a:defRPr>
            </a:defPPr>
          </a:lstStyle>
          <a:p xmlns:a="http://schemas.openxmlformats.org/drawingml/2006/main">
            <a:pPr algn="l">
              <a:defRPr sz="1725" b="0">
                <a:solidFill>
                  <a:srgbClr val="697383"/>
                </a:solidFill>
                <a:latin typeface="DejaVu Sans"/>
                <a:ea typeface="DejaVu Sans"/>
                <a:cs typeface="DejaVu Sans"/>
              </a:defRPr>
            </a:pPr>
            <a:r>
              <a:rPr sz="1725" b="0">
                <a:solidFill>
                  <a:srgbClr val="697383"/>
                </a:solidFill>
                <a:latin typeface="DejaVu Sans"/>
                <a:ea typeface="DejaVu Sans"/>
                <a:cs typeface="DejaVu Sans"/>
              </a:rPr>
              <a:t>Observed delivery time includes bridge overhead.</a:t>
            </a:r>
          </a:p>
        </p:txBody>
      </p:sp>
    </p:spTree>
    <p:extLst>
      <p:ext uri="{BB962C8B-B14F-4D97-AF65-F5344CB8AC3E}">
        <p14:creationId xmlns:p14="http://schemas.microsoft.com/office/powerpoint/2010/main" val="292159706"/>
      </p:ext>
    </p:extLst>
  </p:cSld>
</p:sld>
</file>

<file path=ppt/slides/slide12.xml><?xml version="1.0" encoding="utf-8"?>
<p:sld xmlns:p="http://schemas.openxmlformats.org/presentationml/2006/main">
  <p:cSld>
    <p:bg>
      <p:bgPr>
        <a:solidFill xmlns:a="http://schemas.openxmlformats.org/drawingml/2006/main">
          <a:srgbClr val="FCFBF8"/>
        </a:solidFill>
      </p:bgPr>
    </p:bg>
    <p:spTree>
      <p:nvGrpSpPr>
        <p:cNvPr id="1" name=""/>
        <p:cNvGrpSpPr/>
        <p:nvPr/>
      </p:nvGrpSpPr>
      <p:grpSpPr>
        <a:xfrm xmlns:a="http://schemas.openxmlformats.org/drawingml/2006/main"/>
      </p:grpSpPr>
      <p:sp>
        <p:nvSpPr>
          <p:cNvPr id="8" name="text-85">
            <a:extLst xmlns:a="http://schemas.openxmlformats.org/drawingml/2006/main">
              <a:ext uri="{FF2B5EF4-FFF2-40B4-BE49-F238E27FC236}">
                <a16:creationId xmlns:a16="http://schemas.microsoft.com/office/drawing/2014/main" id="{F9F88759-7D4F-4451-B20B-A3D9881A824B}"/>
              </a:ext>
            </a:extLst>
          </p:cNvPr>
          <p:cNvSpPr>
            <a:spLocks xmlns:a="http://schemas.openxmlformats.org/drawingml/2006/main" noGrp="1"/>
          </p:cNvSpPr>
          <p:nvPr/>
        </p:nvSpPr>
        <p:spPr>
          <a:xfrm xmlns:a="http://schemas.openxmlformats.org/drawingml/2006/main">
            <a:off x="628650" y="428625"/>
            <a:ext cx="10953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222B38"/>
                </a:solidFill>
                <a:latin typeface="DejaVu Sans"/>
                <a:ea typeface="DejaVu Sans"/>
                <a:cs typeface="DejaVu Sans"/>
              </a:defRPr>
            </a:defPPr>
          </a:lstStyle>
          <a:p xmlns:a="http://schemas.openxmlformats.org/drawingml/2006/main">
            <a:pPr algn="l">
              <a:defRPr sz="3300" b="1">
                <a:solidFill>
                  <a:srgbClr val="222B38"/>
                </a:solidFill>
                <a:latin typeface="DejaVu Sans"/>
                <a:ea typeface="DejaVu Sans"/>
                <a:cs typeface="DejaVu Sans"/>
              </a:defRPr>
            </a:pPr>
            <a:r>
              <a:rPr sz="3300" b="1">
                <a:solidFill>
                  <a:srgbClr val="222B38"/>
                </a:solidFill>
                <a:latin typeface="DejaVu Sans"/>
                <a:ea typeface="DejaVu Sans"/>
                <a:cs typeface="DejaVu Sans"/>
              </a:rPr>
              <a:t>Conclusion and Future Work</a:t>
            </a:r>
          </a:p>
        </p:txBody>
      </p:sp>
      <p:sp>
        <p:nvSpPr>
          <p:cNvPr id="2" name="text-86">
            <a:extLst xmlns:a="http://schemas.openxmlformats.org/drawingml/2006/main">
              <a:ext uri="{FF2B5EF4-FFF2-40B4-BE49-F238E27FC236}">
                <a16:creationId xmlns:a16="http://schemas.microsoft.com/office/drawing/2014/main" id="{6B971F07-8909-48DA-A92C-3407E7F805E0}"/>
              </a:ext>
            </a:extLst>
          </p:cNvPr>
          <p:cNvSpPr>
            <a:spLocks xmlns:a="http://schemas.openxmlformats.org/drawingml/2006/main" noGrp="1"/>
          </p:cNvSpPr>
          <p:nvPr/>
        </p:nvSpPr>
        <p:spPr>
          <a:xfrm xmlns:a="http://schemas.openxmlformats.org/drawingml/2006/main">
            <a:off x="628650" y="6477000"/>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0">
                <a:solidFill>
                  <a:srgbClr val="697383"/>
                </a:solidFill>
                <a:latin typeface="DejaVu Sans"/>
                <a:ea typeface="DejaVu Sans"/>
                <a:cs typeface="DejaVu Sans"/>
              </a:defRPr>
            </a:defPPr>
          </a:lstStyle>
          <a:p xmlns:a="http://schemas.openxmlformats.org/drawingml/2006/main">
            <a:pPr algn="l">
              <a:defRPr sz="1050" b="0">
                <a:solidFill>
                  <a:srgbClr val="697383"/>
                </a:solidFill>
                <a:latin typeface="DejaVu Sans"/>
                <a:ea typeface="DejaVu Sans"/>
                <a:cs typeface="DejaVu Sans"/>
              </a:defRPr>
            </a:pPr>
            <a:r>
              <a:rPr sz="1050" b="0">
                <a:solidFill>
                  <a:srgbClr val="697383"/>
                </a:solidFill>
                <a:latin typeface="DejaVu Sans"/>
                <a:ea typeface="DejaVu Sans"/>
                <a:cs typeface="DejaVu Sans"/>
              </a:rPr>
              <a:t>PipeTalk  /  OSSP Hackathon Team 8</a:t>
            </a:r>
          </a:p>
        </p:txBody>
      </p:sp>
      <p:sp>
        <p:nvSpPr>
          <p:cNvPr id="3" name="text-87">
            <a:extLst xmlns:a="http://schemas.openxmlformats.org/drawingml/2006/main">
              <a:ext uri="{FF2B5EF4-FFF2-40B4-BE49-F238E27FC236}">
                <a16:creationId xmlns:a16="http://schemas.microsoft.com/office/drawing/2014/main" id="{CE709A2A-AA29-49B4-B667-38AEE7295881}"/>
              </a:ext>
            </a:extLst>
          </p:cNvPr>
          <p:cNvSpPr>
            <a:spLocks xmlns:a="http://schemas.openxmlformats.org/drawingml/2006/main" noGrp="1"/>
          </p:cNvSpPr>
          <p:nvPr/>
        </p:nvSpPr>
        <p:spPr>
          <a:xfrm xmlns:a="http://schemas.openxmlformats.org/drawingml/2006/main">
            <a:off x="11049000" y="647700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0">
                <a:solidFill>
                  <a:srgbClr val="697383"/>
                </a:solidFill>
                <a:latin typeface="DejaVu Sans"/>
                <a:ea typeface="DejaVu Sans"/>
                <a:cs typeface="DejaVu Sans"/>
              </a:defRPr>
            </a:defPPr>
          </a:lstStyle>
          <a:p xmlns:a="http://schemas.openxmlformats.org/drawingml/2006/main">
            <a:pPr algn="l">
              <a:defRPr sz="1050" b="0">
                <a:solidFill>
                  <a:srgbClr val="697383"/>
                </a:solidFill>
                <a:latin typeface="DejaVu Sans"/>
                <a:ea typeface="DejaVu Sans"/>
                <a:cs typeface="DejaVu Sans"/>
              </a:defRPr>
            </a:pPr>
            <a:r>
              <a:rPr sz="1050" b="0">
                <a:solidFill>
                  <a:srgbClr val="697383"/>
                </a:solidFill>
                <a:latin typeface="DejaVu Sans"/>
                <a:ea typeface="DejaVu Sans"/>
                <a:cs typeface="DejaVu Sans"/>
              </a:rPr>
              <a:t>12</a:t>
            </a:r>
          </a:p>
        </p:txBody>
      </p:sp>
      <p:sp>
        <p:nvSpPr>
          <p:cNvPr id="4" name="text-88">
            <a:extLst xmlns:a="http://schemas.openxmlformats.org/drawingml/2006/main">
              <a:ext uri="{FF2B5EF4-FFF2-40B4-BE49-F238E27FC236}">
                <a16:creationId xmlns:a16="http://schemas.microsoft.com/office/drawing/2014/main" id="{CD303583-8181-415C-A282-3AF68A0310D9}"/>
              </a:ext>
            </a:extLst>
          </p:cNvPr>
          <p:cNvSpPr>
            <a:spLocks xmlns:a="http://schemas.openxmlformats.org/drawingml/2006/main" noGrp="1"/>
          </p:cNvSpPr>
          <p:nvPr/>
        </p:nvSpPr>
        <p:spPr>
          <a:xfrm xmlns:a="http://schemas.openxmlformats.org/drawingml/2006/main">
            <a:off x="666750" y="1571625"/>
            <a:ext cx="106680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075" b="1">
                <a:solidFill>
                  <a:srgbClr val="6756A7"/>
                </a:solidFill>
                <a:latin typeface="DejaVu Sans"/>
                <a:ea typeface="DejaVu Sans"/>
                <a:cs typeface="DejaVu Sans"/>
              </a:defRPr>
            </a:defPPr>
          </a:lstStyle>
          <a:p xmlns:a="http://schemas.openxmlformats.org/drawingml/2006/main">
            <a:pPr algn="l">
              <a:defRPr sz="3075" b="1">
                <a:solidFill>
                  <a:srgbClr val="6756A7"/>
                </a:solidFill>
                <a:latin typeface="DejaVu Sans"/>
                <a:ea typeface="DejaVu Sans"/>
                <a:cs typeface="DejaVu Sans"/>
              </a:defRPr>
            </a:pPr>
            <a:r>
              <a:rPr sz="3075" b="1">
                <a:solidFill>
                  <a:srgbClr val="6756A7"/>
                </a:solidFill>
                <a:latin typeface="DejaVu Sans"/>
                <a:ea typeface="DejaVu Sans"/>
                <a:cs typeface="DejaVu Sans"/>
              </a:rPr>
              <a:t>The prototype makes Linux IPC observable.</a:t>
            </a:r>
          </a:p>
        </p:txBody>
      </p:sp>
      <p:sp>
        <p:nvSpPr>
          <p:cNvPr id="5" name="text-89">
            <a:extLst xmlns:a="http://schemas.openxmlformats.org/drawingml/2006/main">
              <a:ext uri="{FF2B5EF4-FFF2-40B4-BE49-F238E27FC236}">
                <a16:creationId xmlns:a16="http://schemas.microsoft.com/office/drawing/2014/main" id="{329D1674-699A-4BB0-9ABB-BA17C7E7B24C}"/>
              </a:ext>
            </a:extLst>
          </p:cNvPr>
          <p:cNvSpPr>
            <a:spLocks xmlns:a="http://schemas.openxmlformats.org/drawingml/2006/main" noGrp="1"/>
          </p:cNvSpPr>
          <p:nvPr/>
        </p:nvSpPr>
        <p:spPr>
          <a:xfrm xmlns:a="http://schemas.openxmlformats.org/drawingml/2006/main">
            <a:off x="666750" y="2667000"/>
            <a:ext cx="10668000"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0">
                <a:solidFill>
                  <a:srgbClr val="222B38"/>
                </a:solidFill>
                <a:latin typeface="DejaVu Sans"/>
                <a:ea typeface="DejaVu Sans"/>
                <a:cs typeface="DejaVu Sans"/>
              </a:defRPr>
            </a:defPPr>
          </a:lstStyle>
          <a:p xmlns:a="http://schemas.openxmlformats.org/drawingml/2006/main">
            <a:pPr algn="l">
              <a:defRPr sz="2325" b="0">
                <a:solidFill>
                  <a:srgbClr val="222B38"/>
                </a:solidFill>
                <a:latin typeface="DejaVu Sans"/>
                <a:ea typeface="DejaVu Sans"/>
                <a:cs typeface="DejaVu Sans"/>
              </a:defRPr>
            </a:pPr>
            <a:r>
              <a:rPr sz="2325" b="0">
                <a:solidFill>
                  <a:srgbClr val="222B38"/>
                </a:solidFill>
                <a:latin typeface="DejaVu Sans"/>
                <a:ea typeface="DejaVu Sans"/>
                <a:cs typeface="DejaVu Sans"/>
              </a:rPr>
              <a:t>Independent C processes exchange real message frames through named pipes. The browser and Ubuntu terminal show complementary evidence of that communication.</a:t>
            </a:r>
          </a:p>
        </p:txBody>
      </p:sp>
      <p:sp>
        <p:nvSpPr>
          <p:cNvPr id="6" name="text-90">
            <a:extLst xmlns:a="http://schemas.openxmlformats.org/drawingml/2006/main">
              <a:ext uri="{FF2B5EF4-FFF2-40B4-BE49-F238E27FC236}">
                <a16:creationId xmlns:a16="http://schemas.microsoft.com/office/drawing/2014/main" id="{CAB2F926-1B0F-4D0B-8185-16C5F7D64B82}"/>
              </a:ext>
            </a:extLst>
          </p:cNvPr>
          <p:cNvSpPr>
            <a:spLocks xmlns:a="http://schemas.openxmlformats.org/drawingml/2006/main" noGrp="1"/>
          </p:cNvSpPr>
          <p:nvPr/>
        </p:nvSpPr>
        <p:spPr>
          <a:xfrm xmlns:a="http://schemas.openxmlformats.org/drawingml/2006/main">
            <a:off x="666750" y="4429125"/>
            <a:ext cx="10668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1">
                <a:solidFill>
                  <a:srgbClr val="222B38"/>
                </a:solidFill>
                <a:latin typeface="DejaVu Sans"/>
                <a:ea typeface="DejaVu Sans"/>
                <a:cs typeface="DejaVu Sans"/>
              </a:defRPr>
            </a:defPPr>
          </a:lstStyle>
          <a:p xmlns:a="http://schemas.openxmlformats.org/drawingml/2006/main">
            <a:pPr algn="l">
              <a:defRPr sz="2175" b="1">
                <a:solidFill>
                  <a:srgbClr val="222B38"/>
                </a:solidFill>
                <a:latin typeface="DejaVu Sans"/>
                <a:ea typeface="DejaVu Sans"/>
                <a:cs typeface="DejaVu Sans"/>
              </a:defRPr>
            </a:pPr>
            <a:r>
              <a:rPr sz="2175" b="1">
                <a:solidFill>
                  <a:srgbClr val="222B38"/>
                </a:solidFill>
                <a:latin typeface="DejaVu Sans"/>
                <a:ea typeface="DejaVu Sans"/>
                <a:cs typeface="DejaVu Sans"/>
              </a:rPr>
              <a:t>Future work</a:t>
            </a:r>
          </a:p>
        </p:txBody>
      </p:sp>
      <p:sp>
        <p:nvSpPr>
          <p:cNvPr id="7" name="text-91">
            <a:extLst xmlns:a="http://schemas.openxmlformats.org/drawingml/2006/main">
              <a:ext uri="{FF2B5EF4-FFF2-40B4-BE49-F238E27FC236}">
                <a16:creationId xmlns:a16="http://schemas.microsoft.com/office/drawing/2014/main" id="{F03FF4DC-6BA7-44F4-A620-20E8C9EACC44}"/>
              </a:ext>
            </a:extLst>
          </p:cNvPr>
          <p:cNvSpPr>
            <a:spLocks xmlns:a="http://schemas.openxmlformats.org/drawingml/2006/main" noGrp="1"/>
          </p:cNvSpPr>
          <p:nvPr/>
        </p:nvSpPr>
        <p:spPr>
          <a:xfrm xmlns:a="http://schemas.openxmlformats.org/drawingml/2006/main">
            <a:off x="666750" y="5000625"/>
            <a:ext cx="1066800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697383"/>
                </a:solidFill>
                <a:latin typeface="DejaVu Sans"/>
                <a:ea typeface="DejaVu Sans"/>
                <a:cs typeface="DejaVu Sans"/>
              </a:defRPr>
            </a:defPPr>
          </a:lstStyle>
          <a:p xmlns:a="http://schemas.openxmlformats.org/drawingml/2006/main">
            <a:pPr algn="l">
              <a:defRPr sz="2025" b="0">
                <a:solidFill>
                  <a:srgbClr val="697383"/>
                </a:solidFill>
                <a:latin typeface="DejaVu Sans"/>
                <a:ea typeface="DejaVu Sans"/>
                <a:cs typeface="DejaVu Sans"/>
              </a:defRPr>
            </a:pPr>
            <a:r>
              <a:rPr sz="2025" b="0">
                <a:solidFill>
                  <a:srgbClr val="697383"/>
                </a:solidFill>
                <a:latin typeface="DejaVu Sans"/>
                <a:ea typeface="DejaVu Sans"/>
                <a:cs typeface="DejaVu Sans"/>
              </a:rPr>
              <a:t>Persistent message storage</a:t>
            </a:r>
          </a:p>
          <a:p xmlns:a="http://schemas.openxmlformats.org/drawingml/2006/main">
            <a:pPr algn="l">
              <a:defRPr sz="2025" b="0">
                <a:solidFill>
                  <a:srgbClr val="697383"/>
                </a:solidFill>
                <a:latin typeface="DejaVu Sans"/>
                <a:ea typeface="DejaVu Sans"/>
                <a:cs typeface="DejaVu Sans"/>
              </a:defRPr>
            </a:pPr>
            <a:r>
              <a:rPr sz="2025" b="0">
                <a:solidFill>
                  <a:srgbClr val="697383"/>
                </a:solidFill>
                <a:latin typeface="DejaVu Sans"/>
                <a:ea typeface="DejaVu Sans"/>
                <a:cs typeface="DejaVu Sans"/>
              </a:rPr>
              <a:t>Multiple isolated chat sessions</a:t>
            </a:r>
          </a:p>
          <a:p xmlns:a="http://schemas.openxmlformats.org/drawingml/2006/main">
            <a:pPr algn="l">
              <a:defRPr sz="2025" b="0">
                <a:solidFill>
                  <a:srgbClr val="697383"/>
                </a:solidFill>
                <a:latin typeface="DejaVu Sans"/>
                <a:ea typeface="DejaVu Sans"/>
                <a:cs typeface="DejaVu Sans"/>
              </a:defRPr>
            </a:pPr>
            <a:r>
              <a:rPr sz="2025" b="0">
                <a:solidFill>
                  <a:srgbClr val="697383"/>
                </a:solidFill>
                <a:latin typeface="DejaVu Sans"/>
                <a:ea typeface="DejaVu Sans"/>
                <a:cs typeface="DejaVu Sans"/>
              </a:rPr>
              <a:t>Automated browser verification</a:t>
            </a:r>
          </a:p>
        </p:txBody>
      </p:sp>
    </p:spTree>
    <p:extLst>
      <p:ext uri="{BB962C8B-B14F-4D97-AF65-F5344CB8AC3E}">
        <p14:creationId xmlns:p14="http://schemas.microsoft.com/office/powerpoint/2010/main" val="10511864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2026-10-16T16:43:02.5690000Z</dcterms:created>
  <dcterms:modified xsi:type="dcterms:W3CDTF">2026-10-16T16:43:02.5690000Z</dcterms:modified>
</coreProperties>
</file>